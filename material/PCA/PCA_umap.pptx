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30" Type="http://schemas.openxmlformats.org/officeDocument/2006/relationships/viewProps" Target="viewProps.xml" /><Relationship Id="rId29" Type="http://schemas.openxmlformats.org/officeDocument/2006/relationships/presProps" Target="presProps.xml" /><Relationship Id="rId1" Type="http://schemas.openxmlformats.org/officeDocument/2006/relationships/slideMaster" Target="slideMasters/slideMaster1.xml" /><Relationship Id="rId32" Type="http://schemas.openxmlformats.org/officeDocument/2006/relationships/tableStyles" Target="tableStyles.xml" /><Relationship Id="rId3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scikit-learn.org/1.8/modules/generated/sklearn.decomposition.PCA.html#:~:text=n_components,-int%2C%20float%20or%20%27mle%27%2C%20default%3DNone" TargetMode="External" /><Relationship Id="rId3" Type="http://schemas.openxmlformats.org/officeDocument/2006/relationships/hyperlink" Target="https://scikit-learn.org/1.8/modules/generated/sklearn.decomposition.PCA.html#:~:text=n_components,-int%2C%20float%20or%20%27mle%27%2C%20default%3DNone" TargetMode="External" /><Relationship Id="rId4" Type="http://schemas.openxmlformats.org/officeDocument/2006/relationships/hyperlink" Target="https://scikit-learn.org/1.8/modules/generated/sklearn.decomposition.PCA.html#:~:text=n_components,-int%2C%20float%20or%20%27mle%27%2C%20default%3DNone" TargetMode="External" /><Relationship Id="rId5" Type="http://schemas.openxmlformats.org/officeDocument/2006/relationships/hyperlink" Target="https://scikit-learn.org/1.8/modules/generated/sklearn.decomposition.PCA.html#:~:text=n_components,-int%2C%20float%20or%20%27mle%27%2C%20default%3DNone" TargetMode="External" /><Relationship Id="rId6" Type="http://schemas.openxmlformats.org/officeDocument/2006/relationships/hyperlink" Target="https://scikit-learn.org/1.8/modules/generated/sklearn.decomposition.PCA.html#:~:text=n_components,-int%2C%20float%20or%20%27mle%27%2C%20default%3DNone" TargetMode="External" /><Relationship Id="rId7" Type="http://schemas.openxmlformats.org/officeDocument/2006/relationships/hyperlink" Target="https://scikit-learn.org/1.8/modules/generated/sklearn.decomposition.PCA.html#:~:text=n_components,-int%2C%20float%20or%20%27mle%27%2C%20default%3DNone" TargetMode="External" /><Relationship Id="rId8" Type="http://schemas.openxmlformats.org/officeDocument/2006/relationships/hyperlink" Target="https://scikit-learn.org/1.8/modules/generated/sklearn.decomposition.PCA.html#:~:text=n_components,-int%2C%20float%20or%20%27mle%27%2C%20default%3DNone" TargetMode="External" /><Relationship Id="rId9" Type="http://schemas.openxmlformats.org/officeDocument/2006/relationships/hyperlink" Target="https://scikit-learn.org/1.8/modules/generated/sklearn.decomposition.PCA.html#:~:text=n_components,-int%2C%20float%20or%20%27mle%27%2C%20default%3DNone" TargetMode="External" /><Relationship Id="rId10" Type="http://schemas.openxmlformats.org/officeDocument/2006/relationships/hyperlink" Target="https://scikit-learn.org/1.8/modules/generated/sklearn.decomposition.PCA.html#:~:text=n_components,-int%2C%20float%20or%20%27mle%27%2C%20default%3DNone" TargetMode="External" /><Relationship Id="rId11" Type="http://schemas.openxmlformats.org/officeDocument/2006/relationships/hyperlink" Target="https://scikit-learn.org/1.8/modules/generated/sklearn.decomposition.PCA.html#:~:text=n_components,-int%2C%20float%20or%20%27mle%27%2C%20default%3DNone" TargetMode="External" /><Relationship Id="rId12" Type="http://schemas.openxmlformats.org/officeDocument/2006/relationships/hyperlink" Target="https://scikit-learn.org/1.8/modules/generated/sklearn.decomposition.PCA.html#:~:text=n_components,-int%2C%20float%20or%20%27mle%27%2C%20default%3DNone" TargetMode="External" /><Relationship Id="rId13" Type="http://schemas.openxmlformats.org/officeDocument/2006/relationships/hyperlink" Target="https://scikit-learn.org/1.8/modules/generated/sklearn.decomposition.PCA.html#:~:text=n_components,-int%2C%20float%20or%20%27mle%27%2C%20default%3DNone" TargetMode="External" /><Relationship Id="rId14" Type="http://schemas.openxmlformats.org/officeDocument/2006/relationships/hyperlink" Target="https://scikit-learn.org/1.8/modules/generated/sklearn.decomposition.PCA.html#:~:text=n_components,-int%2C%20float%20or%20%27mle%27%2C%20default%3DNone" TargetMode="External" /><Relationship Id="rId15" Type="http://schemas.openxmlformats.org/officeDocument/2006/relationships/hyperlink" Target="https://scikit-learn.org/1.8/modules/generated/sklearn.decomposition.PCA.html#:~:text=n_components,-int%2C%20float%20or%20%27mle%27%2C%20default%3DNone" TargetMode="External" /><Relationship Id="rId16" Type="http://schemas.openxmlformats.org/officeDocument/2006/relationships/hyperlink" Target="https://scikit-learn.org/1.8/modules/generated/sklearn.decomposition.PCA.html#:~:text=copy,-bool%2C%20default%3DTrue" TargetMode="External" /><Relationship Id="rId17" Type="http://schemas.openxmlformats.org/officeDocument/2006/relationships/hyperlink" Target="https://scikit-learn.org/1.8/modules/generated/sklearn.decomposition.PCA.html#:~:text=copy,-bool%2C%20default%3DTrue" TargetMode="External" /><Relationship Id="rId18" Type="http://schemas.openxmlformats.org/officeDocument/2006/relationships/hyperlink" Target="https://scikit-learn.org/1.8/modules/generated/sklearn.decomposition.PCA.html#:~:text=copy,-bool%2C%20default%3DTrue" TargetMode="External" /><Relationship Id="rId19" Type="http://schemas.openxmlformats.org/officeDocument/2006/relationships/hyperlink" Target="https://scikit-learn.org/1.8/modules/generated/sklearn.decomposition.PCA.html#:~:text=copy,-bool%2C%20default%3DTrue" TargetMode="External" /><Relationship Id="rId20" Type="http://schemas.openxmlformats.org/officeDocument/2006/relationships/hyperlink" Target="https://scikit-learn.org/1.8/modules/generated/sklearn.decomposition.PCA.html#:~:text=whiten,-bool%2C%20default%3DFalse" TargetMode="External" /><Relationship Id="rId21" Type="http://schemas.openxmlformats.org/officeDocument/2006/relationships/hyperlink" Target="https://scikit-learn.org/1.8/modules/generated/sklearn.decomposition.PCA.html#:~:text=whiten,-bool%2C%20default%3DFalse" TargetMode="External" /><Relationship Id="rId22" Type="http://schemas.openxmlformats.org/officeDocument/2006/relationships/hyperlink" Target="https://scikit-learn.org/1.8/modules/generated/sklearn.decomposition.PCA.html#:~:text=whiten,-bool%2C%20default%3DFalse" TargetMode="External" /><Relationship Id="rId23" Type="http://schemas.openxmlformats.org/officeDocument/2006/relationships/hyperlink" Target="https://scikit-learn.org/1.8/modules/generated/sklearn.decomposition.PCA.html#:~:text=whiten,-bool%2C%20default%3DFalse" TargetMode="External" /><Relationship Id="rId24" Type="http://schemas.openxmlformats.org/officeDocument/2006/relationships/hyperlink" Target="https://scikit-learn.org/1.8/modules/generated/sklearn.decomposition.PCA.html#:~:text=whiten,-bool%2C%20default%3DFalse" TargetMode="External" /><Relationship Id="rId25" Type="http://schemas.openxmlformats.org/officeDocument/2006/relationships/hyperlink" Target="https://scikit-learn.org/1.8/modules/generated/sklearn.decomposition.PCA.html#:~:text=whiten,-bool%2C%20default%3DFalse" TargetMode="External" /><Relationship Id="rId26" Type="http://schemas.openxmlformats.org/officeDocument/2006/relationships/hyperlink" Target="https://scikit-learn.org/1.8/modules/generated/sklearn.decomposition.PCA.html#:~:text=whiten,-bool%2C%20default%3DFalse" TargetMode="External" /><Relationship Id="rId27" Type="http://schemas.openxmlformats.org/officeDocument/2006/relationships/hyperlink" Target="https://scikit-learn.org/1.8/modules/generated/sklearn.decomposition.PCA.html#:~:text=whiten,-bool%2C%20default%3DFalse" TargetMode="External" /><Relationship Id="rId28"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29"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30"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31"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32"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33"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34"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35"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36"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37"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38"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39"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40"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41"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42"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43"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44"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45"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46"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47"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48"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49"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50"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51"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52"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53"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54"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55"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56"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57"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58"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59"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60" Type="http://schemas.openxmlformats.org/officeDocument/2006/relationships/hyperlink" Target="https://scikit-learn.org/1.8/modules/generated/sklearn.decomposition.PCA.html#:~:text=svd_solver,-%7B%27auto%27%2C%20%27full%27%2C%20%27covariance_eigh%27%2C%20%27arpack%27%2C%20%27randomized%27%7D%2C%20%20%20%20%20%20%20%20%20%20%20%20default%3D%27auto%27" TargetMode="External" /><Relationship Id="rId61" Type="http://schemas.openxmlformats.org/officeDocument/2006/relationships/hyperlink" Target="https://scikit-learn.org/1.8/modules/generated/sklearn.decomposition.PCA.html#:~:text=tol,-float%2C%20default%3D0.0" TargetMode="External" /><Relationship Id="rId62" Type="http://schemas.openxmlformats.org/officeDocument/2006/relationships/hyperlink" Target="https://scikit-learn.org/1.8/modules/generated/sklearn.decomposition.PCA.html#:~:text=tol,-float%2C%20default%3D0.0" TargetMode="External" /><Relationship Id="rId63" Type="http://schemas.openxmlformats.org/officeDocument/2006/relationships/hyperlink" Target="https://scikit-learn.org/1.8/modules/generated/sklearn.decomposition.PCA.html#:~:text=tol,-float%2C%20default%3D0.0" TargetMode="External" /><Relationship Id="rId64" Type="http://schemas.openxmlformats.org/officeDocument/2006/relationships/hyperlink" Target="https://scikit-learn.org/1.8/modules/generated/sklearn.decomposition.PCA.html#:~:text=tol,-float%2C%20default%3D0.0" TargetMode="External" /><Relationship Id="rId65" Type="http://schemas.openxmlformats.org/officeDocument/2006/relationships/hyperlink" Target="https://scikit-learn.org/1.8/modules/generated/sklearn.decomposition.PCA.html#:~:text=iterated_power,-int%20or%20%27auto%27%2C%20default%3D%27auto%27" TargetMode="External" /><Relationship Id="rId66" Type="http://schemas.openxmlformats.org/officeDocument/2006/relationships/hyperlink" Target="https://scikit-learn.org/1.8/modules/generated/sklearn.decomposition.PCA.html#:~:text=iterated_power,-int%20or%20%27auto%27%2C%20default%3D%27auto%27" TargetMode="External" /><Relationship Id="rId67" Type="http://schemas.openxmlformats.org/officeDocument/2006/relationships/hyperlink" Target="https://scikit-learn.org/1.8/modules/generated/sklearn.decomposition.PCA.html#:~:text=iterated_power,-int%20or%20%27auto%27%2C%20default%3D%27auto%27" TargetMode="External" /><Relationship Id="rId68" Type="http://schemas.openxmlformats.org/officeDocument/2006/relationships/hyperlink" Target="https://scikit-learn.org/1.8/modules/generated/sklearn.decomposition.PCA.html#:~:text=iterated_power,-int%20or%20%27auto%27%2C%20default%3D%27auto%27" TargetMode="External" /><Relationship Id="rId69" Type="http://schemas.openxmlformats.org/officeDocument/2006/relationships/hyperlink" Target="https://scikit-learn.org/1.8/modules/generated/sklearn.decomposition.PCA.html#:~:text=iterated_power,-int%20or%20%27auto%27%2C%20default%3D%27auto%27" TargetMode="External" /><Relationship Id="rId70" Type="http://schemas.openxmlformats.org/officeDocument/2006/relationships/hyperlink" Target="https://scikit-learn.org/1.8/modules/generated/sklearn.decomposition.PCA.html#:~:text=n_oversamples,-int%2C%20default%3D10" TargetMode="External" /><Relationship Id="rId71" Type="http://schemas.openxmlformats.org/officeDocument/2006/relationships/hyperlink" Target="https://scikit-learn.org/1.8/modules/generated/sklearn.decomposition.PCA.html#:~:text=n_oversamples,-int%2C%20default%3D10" TargetMode="External" /><Relationship Id="rId72" Type="http://schemas.openxmlformats.org/officeDocument/2006/relationships/hyperlink" Target="https://scikit-learn.org/1.8/modules/generated/sklearn.decomposition.PCA.html#:~:text=n_oversamples,-int%2C%20default%3D10" TargetMode="External" /><Relationship Id="rId73" Type="http://schemas.openxmlformats.org/officeDocument/2006/relationships/hyperlink" Target="https://scikit-learn.org/1.8/modules/generated/sklearn.decomposition.PCA.html#:~:text=n_oversamples,-int%2C%20default%3D10" TargetMode="External" /><Relationship Id="rId74" Type="http://schemas.openxmlformats.org/officeDocument/2006/relationships/hyperlink" Target="https://scikit-learn.org/1.8/modules/generated/sklearn.decomposition.PCA.html#:~:text=n_oversamples,-int%2C%20default%3D10" TargetMode="External" /><Relationship Id="rId75" Type="http://schemas.openxmlformats.org/officeDocument/2006/relationships/hyperlink" Target="https://scikit-learn.org/1.8/modules/generated/sklearn.decomposition.PCA.html#:~:text=n_oversamples,-int%2C%20default%3D10" TargetMode="External" /><Relationship Id="rId76" Type="http://schemas.openxmlformats.org/officeDocument/2006/relationships/hyperlink" Target="https://scikit-learn.org/1.8/modules/generated/sklearn.decomposition.PCA.html#:~:text=power_iteration_normalizer,-%7B%27auto%27%2C%20%27QR%27%2C%20%27LU%27%2C%20%27none%27%7D%2C%20default%3D%27auto%27" TargetMode="External" /><Relationship Id="rId77" Type="http://schemas.openxmlformats.org/officeDocument/2006/relationships/hyperlink" Target="https://scikit-learn.org/1.8/modules/generated/sklearn.decomposition.PCA.html#:~:text=power_iteration_normalizer,-%7B%27auto%27%2C%20%27QR%27%2C%20%27LU%27%2C%20%27none%27%7D%2C%20default%3D%27auto%27" TargetMode="External" /><Relationship Id="rId78" Type="http://schemas.openxmlformats.org/officeDocument/2006/relationships/hyperlink" Target="https://scikit-learn.org/1.8/modules/generated/sklearn.decomposition.PCA.html#:~:text=power_iteration_normalizer,-%7B%27auto%27%2C%20%27QR%27%2C%20%27LU%27%2C%20%27none%27%7D%2C%20default%3D%27auto%27" TargetMode="External" /><Relationship Id="rId79" Type="http://schemas.openxmlformats.org/officeDocument/2006/relationships/hyperlink" Target="https://scikit-learn.org/1.8/modules/generated/sklearn.decomposition.PCA.html#:~:text=power_iteration_normalizer,-%7B%27auto%27%2C%20%27QR%27%2C%20%27LU%27%2C%20%27none%27%7D%2C%20default%3D%27auto%27" TargetMode="External" /><Relationship Id="rId80" Type="http://schemas.openxmlformats.org/officeDocument/2006/relationships/hyperlink" Target="https://scikit-learn.org/1.8/modules/generated/sklearn.decomposition.PCA.html#:~:text=power_iteration_normalizer,-%7B%27auto%27%2C%20%27QR%27%2C%20%27LU%27%2C%20%27none%27%7D%2C%20default%3D%27auto%27" TargetMode="External" /><Relationship Id="rId81" Type="http://schemas.openxmlformats.org/officeDocument/2006/relationships/hyperlink" Target="https://scikit-learn.org/1.8/modules/generated/sklearn.decomposition.PCA.html#:~:text=random_state,-int%2C%20RandomState%20instance%20or%20None%2C%20default%3DNone" TargetMode="External" /><Relationship Id="rId82" Type="http://schemas.openxmlformats.org/officeDocument/2006/relationships/hyperlink" Target="https://scikit-learn.org/1.8/modules/generated/sklearn.decomposition.PCA.html#:~:text=random_state,-int%2C%20RandomState%20instance%20or%20None%2C%20default%3DNone" TargetMode="External" /><Relationship Id="rId83" Type="http://schemas.openxmlformats.org/officeDocument/2006/relationships/hyperlink" Target="https://scikit-learn.org/1.8/modules/generated/sklearn.decomposition.PCA.html#:~:text=random_state,-int%2C%20RandomState%20instance%20or%20None%2C%20default%3DNone" TargetMode="External" /><Relationship Id="rId84" Type="http://schemas.openxmlformats.org/officeDocument/2006/relationships/hyperlink" Target="https://scikit-learn.org/1.8/modules/generated/sklearn.decomposition.PCA.html#:~:text=random_state,-int%2C%20RandomState%20instance%20or%20None%2C%20default%3DNone" TargetMode="External" /><Relationship Id="rId85" Type="http://schemas.openxmlformats.org/officeDocument/2006/relationships/hyperlink" Target="https://scikit-learn.org/1.8/modules/generated/sklearn.decomposition.PCA.html#:~:text=random_state,-int%2C%20RandomState%20instance%20or%20None%2C%20default%3DNone"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Function Creation</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Vision:</a:t>
            </a:r>
          </a:p>
        </p:txBody>
      </p:sp>
      <p:sp>
        <p:nvSpPr>
          <p:cNvPr id="3" name="Content Placeholder 2"/>
          <p:cNvSpPr>
            <a:spLocks noGrp="1"/>
          </p:cNvSpPr>
          <p:nvPr>
            <p:ph idx="1"/>
          </p:nvPr>
        </p:nvSpPr>
        <p:spPr/>
        <p:txBody>
          <a:bodyPr/>
          <a:lstStyle/>
          <a:p>
            <a:pPr lvl="0" indent="0" marL="0">
              <a:buNone/>
            </a:pPr>
            <a:r>
              <a:rPr/>
              <a:t>Vision: To build a predictive application that enables the Commissioner’s Office to estimate property values and, more importantly, explain why those prices are shifting.</a:t>
            </a:r>
          </a:p>
          <a:p>
            <a:pPr lvl="0" indent="0" marL="0">
              <a:spcBef>
                <a:spcPts val="3000"/>
              </a:spcBef>
              <a:buNone/>
            </a:pPr>
            <a:r>
              <a:rPr b="1"/>
              <a:t>Strategy</a:t>
            </a:r>
          </a:p>
          <a:p>
            <a:pPr lvl="0"/>
            <a:r>
              <a:rPr/>
              <a:t>CPI Adjustment: Normalize historical sales to today’s dollar.</a:t>
            </a:r>
          </a:p>
          <a:p>
            <a:pPr lvl="0"/>
            <a:r>
              <a:rPr/>
              <a:t>Market Segmentation: Use “Market Type” (Single-Family vs. Multi-Family) as interaction terms—recognizing that an extra bedroom in a condo adds different value than an extra bedroom on a ranch.</a:t>
            </a:r>
          </a:p>
          <a:p>
            <a:pPr lvl="0"/>
            <a:r>
              <a:rPr/>
              <a:t>The Application: An interactive application that will output pricing predictions and add transparency in the valuation process.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Methodology</a:t>
            </a:r>
          </a:p>
        </p:txBody>
      </p:sp>
      <p:sp>
        <p:nvSpPr>
          <p:cNvPr id="3" name="Content Placeholder 2"/>
          <p:cNvSpPr>
            <a:spLocks noGrp="1"/>
          </p:cNvSpPr>
          <p:nvPr>
            <p:ph idx="1"/>
          </p:nvPr>
        </p:nvSpPr>
        <p:spPr/>
        <p:txBody>
          <a:bodyPr/>
          <a:lstStyle/>
          <a:p>
            <a:pPr lvl="0" indent="0" marL="0">
              <a:spcBef>
                <a:spcPts val="3000"/>
              </a:spcBef>
              <a:buNone/>
            </a:pPr>
            <a:r>
              <a:rPr b="1"/>
              <a:t>Phase 1:</a:t>
            </a:r>
          </a:p>
          <a:p>
            <a:pPr lvl="0" indent="0" marL="0">
              <a:buNone/>
            </a:pPr>
            <a:r>
              <a:rPr/>
              <a:t>Feature Drivers: Identify the drivers of what makes properties different. These drivers are found in my PCA.</a:t>
            </a:r>
          </a:p>
          <a:p>
            <a:pPr lvl="0" indent="0" marL="0">
              <a:spcBef>
                <a:spcPts val="3000"/>
              </a:spcBef>
              <a:buNone/>
            </a:pPr>
            <a:r>
              <a:rPr b="1"/>
              <a:t>Phase 2:</a:t>
            </a:r>
          </a:p>
          <a:p>
            <a:pPr lvl="0" indent="0" marL="0">
              <a:buNone/>
            </a:pPr>
            <a:r>
              <a:rPr/>
              <a:t>Price Sub-Markets: Identify the sub-markets within housing markets (housing markets: single family, multi-family, etc.) These sub-markets are found in Ryan and Lucca’s UMAPS.</a:t>
            </a:r>
          </a:p>
          <a:p>
            <a:pPr lvl="0" indent="0" marL="0">
              <a:spcBef>
                <a:spcPts val="3000"/>
              </a:spcBef>
              <a:buNone/>
            </a:pPr>
            <a:r>
              <a:rPr b="1"/>
              <a:t>Phase 3:</a:t>
            </a:r>
          </a:p>
          <a:p>
            <a:pPr lvl="0" indent="0" marL="0">
              <a:buNone/>
            </a:pPr>
            <a:r>
              <a:rPr/>
              <a:t>Price Prediction: Utilize findings from feature extraction and sub-market classifications to then predict housing prices, adjusting for CPI in the process. The goal of these models is to capture 90% or more of the variation in price. These predictions are currently being curated!</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Current Insights (Phase 1)</a:t>
            </a:r>
          </a:p>
        </p:txBody>
      </p:sp>
      <p:sp>
        <p:nvSpPr>
          <p:cNvPr id="3" name="Content Placeholder 2"/>
          <p:cNvSpPr>
            <a:spLocks noGrp="1"/>
          </p:cNvSpPr>
          <p:nvPr>
            <p:ph idx="1"/>
          </p:nvPr>
        </p:nvSpPr>
        <p:spPr/>
        <p:txBody>
          <a:bodyPr/>
          <a:lstStyle/>
          <a:p>
            <a:pPr lvl="0" indent="0" marL="0">
              <a:spcBef>
                <a:spcPts val="3000"/>
              </a:spcBef>
              <a:buNone/>
            </a:pPr>
            <a:r>
              <a:rPr b="1"/>
              <a:t>Insights: “The Standard vs. The Luxury”</a:t>
            </a:r>
          </a:p>
          <a:p>
            <a:pPr lvl="0" indent="0" marL="0">
              <a:buNone/>
            </a:pPr>
            <a:r>
              <a:rPr/>
              <a:t>Finding: Only 30% of property variation is driven by “Standard Features” (Bed/Bath/Sqft).</a:t>
            </a:r>
          </a:p>
          <a:p>
            <a:pPr lvl="0" indent="0" marL="0">
              <a:buNone/>
            </a:pPr>
            <a:r>
              <a:rPr/>
              <a:t>The “So What?”: 70% of what makes properties in Iron County unique comes from “Luxury” or “Nuance” features (sheds, pools, etc.). Interesting feature fact: Half Baths act like a “luxury” feature in the data.</a:t>
            </a:r>
          </a:p>
          <a:p>
            <a:pPr lvl="0" indent="0" marL="0">
              <a:buNone/>
            </a:pPr>
            <a:r>
              <a:rPr/>
              <a:t>Actionable Step: Our model cannot just look at the basics; we must include these “luxury” indicators to reach our 90% accuracy goal.</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Road Map &amp; Next Steps</a:t>
            </a:r>
          </a:p>
        </p:txBody>
      </p:sp>
      <p:sp>
        <p:nvSpPr>
          <p:cNvPr id="3" name="Content Placeholder 2"/>
          <p:cNvSpPr>
            <a:spLocks noGrp="1"/>
          </p:cNvSpPr>
          <p:nvPr>
            <p:ph idx="1"/>
          </p:nvPr>
        </p:nvSpPr>
        <p:spPr/>
        <p:txBody>
          <a:bodyPr/>
          <a:lstStyle/>
          <a:p>
            <a:pPr lvl="0" indent="0" marL="0">
              <a:spcBef>
                <a:spcPts val="3000"/>
              </a:spcBef>
              <a:buNone/>
            </a:pPr>
            <a:r>
              <a:rPr b="1"/>
              <a:t>CPI Adjustments</a:t>
            </a:r>
          </a:p>
          <a:p>
            <a:pPr lvl="0" indent="0" marL="0">
              <a:buNone/>
            </a:pPr>
            <a:r>
              <a:rPr/>
              <a:t>Reasoning: Due to inflation, the value of a dollar today is not the same as it was a year ago or will be in a year. To ensure that all of the dollar amounts we are predicting equate to the same value, we need to adjust for these market fluxuations. Role of the Students: Our role is to prepare the data for the adjustments by consolidating insights about markets and sub-markets in with a master dataset for the Commissioners office to work with. Role of the Commissioner Office: The role of the commissioner office is to conduct the CPI adjustments on the master dataset and return it back to the students for model integration.</a:t>
            </a:r>
          </a:p>
          <a:p>
            <a:pPr lvl="0" indent="0" marL="0">
              <a:spcBef>
                <a:spcPts val="3000"/>
              </a:spcBef>
              <a:buNone/>
            </a:pPr>
            <a:r>
              <a:rPr b="1"/>
              <a:t>Modeling</a:t>
            </a:r>
          </a:p>
          <a:p>
            <a:pPr lvl="0" indent="0" marL="0">
              <a:buNone/>
            </a:pPr>
            <a:r>
              <a:rPr/>
              <a:t>Modeling: As we move into the modeling, we want to combine insights from the unsupervised modeling into our supervised modeling process. As mentioned previously, we will want to add interaction variables for markets and sub-markets. Another interaction variable that may be beneficial is location, as rural areas may be priced differently compared to urban areas. As previously mentioned, the goal of the modeling is to account for 90% or more of the variation in price.</a:t>
            </a:r>
          </a:p>
          <a:p>
            <a:pPr lvl="0" indent="0" marL="0">
              <a:buNone/>
            </a:pPr>
            <a:r>
              <a:rPr/>
              <a:t>Validation: As we model, we need to validate the models so that the predictions can be trusted.</a:t>
            </a:r>
          </a:p>
          <a:p>
            <a:pPr lvl="0" indent="0" marL="0">
              <a:spcBef>
                <a:spcPts val="3000"/>
              </a:spcBef>
              <a:buNone/>
            </a:pPr>
            <a:r>
              <a:rPr b="1"/>
              <a:t>Application</a:t>
            </a:r>
          </a:p>
          <a:p>
            <a:pPr lvl="0" indent="0" marL="0">
              <a:buNone/>
            </a:pPr>
            <a:r>
              <a:rPr/>
              <a:t>Deployment: Once a model is chosen, it will then be implemented into a user-friendly platform for the Commissioners Office, such that predictions and drivers are identified.</a:t>
            </a:r>
          </a:p>
          <a:p>
            <a:pPr lvl="0" indent="0" marL="0">
              <a:spcBef>
                <a:spcPts val="3000"/>
              </a:spcBef>
              <a:buNone/>
            </a:pPr>
            <a:r>
              <a:rPr b="1"/>
              <a:t>Import Libraries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Unsupervised Learning</a:t>
            </a:r>
          </a:p>
        </p:txBody>
      </p:sp>
      <p:sp>
        <p:nvSpPr>
          <p:cNvPr id="4" name="Text Placeholder 3"/>
          <p:cNvSpPr>
            <a:spLocks noGrp="1"/>
          </p:cNvSpPr>
          <p:nvPr>
            <p:ph idx="2" sz="half" type="body"/>
          </p:nvPr>
        </p:nvSpPr>
        <p:spPr/>
        <p:txBody>
          <a:bodyPr/>
          <a:lstStyle/>
          <a:p>
            <a:pPr lvl="0" indent="0" marL="0">
              <a:spcBef>
                <a:spcPts val="3000"/>
              </a:spcBef>
              <a:buNone/>
            </a:pPr>
            <a:r>
              <a:rPr b="1"/>
              <a:t>Read in Parcel Data</a:t>
            </a:r>
          </a:p>
          <a:p>
            <a:pPr lvl="0" indent="0">
              <a:buNone/>
            </a:pPr>
            <a:r>
              <a:rPr>
                <a:latin typeface="Courier"/>
              </a:rPr>
              <a:t>&lt;class 'pandas.core.frame.DataFrame'&gt;
RangeIndex: 53277 entries, 0 to 53276
Data columns (total 53 columns):
 #   Column                       Non-Null Count  Dtype  
---  ------                       --------------  -----  
 0   ParcelId                     53277 non-null  object 
 1   TaxYear                      53277 non-null  int64  
 2   Active                       53277 non-null  object 
 3   ImpOnly                      53277 non-null  int64  
 4   IsIncluded                   53277 non-null  bool   
 5   PropType                     53277 non-null  int64  
 6   PropTypeDescription          53277 non-null  object 
 7   Subdivision                  38318 non-null  object 
 8   Acreage                      53277 non-null  float64
 9   Jurisdiction                 53277 non-null  int64  
 10  RecordType                   53277 non-null  object 
 11  SpecificPropType             53277 non-null  int64  
 12  SpecificPropTypeDescription  53277 non-null  object 
 13  Lat                          51923 non-null  float64
 14  Lng                          51923 non-null  float64
 15  ReviewedDate                 52414 non-null  float64
 16  ReviewedBy                   52414 non-null  object 
 17  NbhdCode2                    53277 non-null  object 
 18  Area                         53277 non-null  object 
 19  ImpCode                      53277 non-null  int64  
 20  Res Imp Count                21893 non-null  float64
 21  TotGLA                       21893 non-null  float64
 22  Tot Bsmt                     21893 non-null  float64
 23  EffYearBuilt_Weighted        21893 non-null  float64
 24  Quality_Weighted             21893 non-null  float64
 25  MainImp.GroupCode            21893 non-null  object 
 26  Main_StyleDesc               21893 non-null  object 
 27  FullBaths_Total              21893 non-null  float64
 28  HalfBaths_Total              21893 non-null  float64
 29  BsmtFinishPct_Weighted       9663 non-null   float64
 30  Laundry_Count                21893 non-null  float64
 31  KitchenCount                 21893 non-null  float64
 32  CarportArea                  21893 non-null  float64
 33  CarportCapacity              21893 non-null  float64
 34  GarageArea                   21893 non-null  float64
 35  GarageCapacity               21893 non-null  float64
 36  Main_YearBuilt               21893 non-null  float64
 37  Count_DetGarage              10572 non-null  float64
 38  SqFt_DetGarage               2376 non-null   float64
 39  Count_ DetCarport            10572 non-null  float64
 40  SqFt_DetCarport              500 non-null    float64
 41  Count_Barn                   10572 non-null  float64
 42  Sqft_Barn                    162 non-null    float64
 43  Count_Guest_House            10572 non-null  float64
 44  SqFt_Guest_House             25 non-null     float64
 45  Count_Pools                  10572 non-null  float64
 46  SqFt_Pools                   84 non-null     float64
 47  Count_Recreational_Courts    10572 non-null  float64
 48  SqFt_Recreational_Courts     52 non-null     float64
 49  Count_Shed                   10572 non-null  float64
 50  SqFt_Shed                    3587 non-null   float64
 51  Count_Gazebo_Pavilion        10572 non-null  float64
 52  SqFt_Gazebo_Pavilion         110 non-null    float64
dtypes: bool(1), float64(35), int64(6), object(11)
memory usage: 21.2+ MB</a:t>
            </a:r>
          </a:p>
          <a:p>
            <a:pPr lvl="0" indent="0" marL="0">
              <a:spcBef>
                <a:spcPts val="3000"/>
              </a:spcBef>
              <a:buNone/>
            </a:pPr>
            <a:r>
              <a:rPr b="1"/>
              <a:t>View the Non-Numeric Variables</a:t>
            </a:r>
          </a:p>
          <a:p>
            <a:pPr lvl="0" indent="0">
              <a:buNone/>
            </a:pPr>
            <a:r>
              <a:rPr>
                <a:latin typeface="Courier"/>
              </a:rPr>
              <a:t>&lt;class 'pandas.core.frame.DataFrame'&gt;
RangeIndex: 53277 entries, 0 to 53276
Data columns (total 12 columns):
 #   Column                       Non-Null Count  Dtype 
---  ------                       --------------  ----- 
 0   ParcelId                     53277 non-null  object
 1   Active                       53277 non-null  object
 2   IsIncluded                   53277 non-null  bool  
 3   PropTypeDescription          53277 non-null  object
 4   Subdivision                  38318 non-null  object
 5   RecordType                   53277 non-null  object
 6   SpecificPropTypeDescription  53277 non-null  object
 7   ReviewedBy                   52414 non-null  object
 8   NbhdCode2                    53277 non-null  object
 9   Area                         53277 non-null  object
 10  MainImp.GroupCode            21893 non-null  object
 11  Main_StyleDesc               21893 non-null  object
dtypes: bool(1), object(11)
memory usage: 4.5+ MB</a:t>
            </a:r>
          </a:p>
          <a:p>
            <a:pPr lvl="0" indent="0">
              <a:buNone/>
            </a:pPr>
            <a:r>
              <a:rPr>
                <a:latin typeface="Courier"/>
              </a:rPr>
              <a:t>Index(['ParcelId', 'Active', 'IsIncluded', 'PropTypeDescription',
       'Subdivision', 'RecordType', 'SpecificPropTypeDescription',
       'ReviewedBy', 'NbhdCode2', 'Area', 'MainImp.GroupCode',
       'Main_StyleDesc'],
      dtype='object')</a:t>
            </a:r>
          </a:p>
          <a:p>
            <a:pPr lvl="0" indent="0" marL="0">
              <a:spcBef>
                <a:spcPts val="3000"/>
              </a:spcBef>
              <a:buNone/>
            </a:pPr>
            <a:r>
              <a:rPr b="1"/>
              <a:t>View the Numeric Variables</a:t>
            </a:r>
          </a:p>
          <a:p>
            <a:pPr lvl="0" indent="0">
              <a:buNone/>
            </a:pPr>
            <a:r>
              <a:rPr>
                <a:latin typeface="Courier"/>
              </a:rPr>
              <a:t>&lt;class 'pandas.core.frame.DataFrame'&gt;
RangeIndex: 53277 entries, 0 to 53276
Data columns (total 41 columns):
 #   Column                     Non-Null Count  Dtype  
---  ------                     --------------  -----  
 0   TaxYear                    53277 non-null  int64  
 1   ImpOnly                    53277 non-null  int64  
 2   PropType                   53277 non-null  int64  
 3   Acreage                    53277 non-null  float64
 4   Jurisdiction               53277 non-null  int64  
 5   SpecificPropType           53277 non-null  int64  
 6   Lat                        51923 non-null  float64
 7   Lng                        51923 non-null  float64
 8   ReviewedDate               52414 non-null  float64
 9   ImpCode                    53277 non-null  int64  
 10  Res Imp Count              21893 non-null  float64
 11  TotGLA                     21893 non-null  float64
 12  Tot Bsmt                   21893 non-null  float64
 13  EffYearBuilt_Weighted      21893 non-null  float64
 14  Quality_Weighted           21893 non-null  float64
 15  FullBaths_Total            21893 non-null  float64
 16  HalfBaths_Total            21893 non-null  float64
 17  BsmtFinishPct_Weighted     9663 non-null   float64
 18  Laundry_Count              21893 non-null  float64
 19  KitchenCount               21893 non-null  float64
 20  CarportArea                21893 non-null  float64
 21  CarportCapacity            21893 non-null  float64
 22  GarageArea                 21893 non-null  float64
 23  GarageCapacity             21893 non-null  float64
 24  Main_YearBuilt             21893 non-null  float64
 25  Count_DetGarage            10572 non-null  float64
 26  SqFt_DetGarage             2376 non-null   float64
 27  Count_ DetCarport          10572 non-null  float64
 28  SqFt_DetCarport            500 non-null    float64
 29  Count_Barn                 10572 non-null  float64
 30  Sqft_Barn                  162 non-null    float64
 31  Count_Guest_House          10572 non-null  float64
 32  SqFt_Guest_House           25 non-null     float64
 33  Count_Pools                10572 non-null  float64
 34  SqFt_Pools                 84 non-null     float64
 35  Count_Recreational_Courts  10572 non-null  float64
 36  SqFt_Recreational_Courts   52 non-null     float64
 37  Count_Shed                 10572 non-null  float64
 38  SqFt_Shed                  3587 non-null   float64
 39  Count_Gazebo_Pavilion      10572 non-null  float64
 40  SqFt_Gazebo_Pavilion       110 non-null    float64
dtypes: float64(35), int64(6)
memory usage: 16.7 MB</a:t>
            </a:r>
          </a:p>
          <a:p>
            <a:pPr lvl="0" indent="0">
              <a:buNone/>
            </a:pPr>
            <a:r>
              <a:rPr>
                <a:latin typeface="Courier"/>
              </a:rPr>
              <a:t>Index(['TaxYear', 'ImpOnly', 'PropType ', 'Acreage', 'Jurisdiction',
       'SpecificPropType', 'Lat', 'Lng', 'ReviewedDate', 'ImpCode',
       'Res Imp Count', 'TotGLA', 'Tot Bsmt', 'EffYearBuilt_Weighted',
       'Quality_Weighted', 'FullBaths_Total', 'HalfBaths_Total',
       'BsmtFinishPct_Weighted', 'Laundry_Count', 'KitchenCount',
       'CarportArea', 'CarportCapacity', 'GarageArea', 'GarageCapacity',
       'Main_YearBuilt', 'Count_DetGarage', 'SqFt_DetGarage',
       'Count_ DetCarport', 'SqFt_DetCarport', 'Count_Barn', 'Sqft_Barn',
       'Count_Guest_House', 'SqFt_Guest_House', 'Count_Pools', 'SqFt_Pools',
       'Count_Recreational_Courts', 'SqFt_Recreational_Courts', 'Count_Shed',
       'SqFt_Shed', 'Count_Gazebo_Pavilion', 'SqFt_Gazebo_Pavilion'],
      dtype='object')</a:t>
            </a:r>
          </a:p>
          <a:p>
            <a:pPr lvl="0" indent="0" marL="0">
              <a:spcBef>
                <a:spcPts val="3000"/>
              </a:spcBef>
              <a:buNone/>
            </a:pPr>
            <a:r>
              <a:rPr b="1"/>
              <a:t>Move the Categorical Numeric Variables Out</a:t>
            </a:r>
          </a:p>
          <a:p>
            <a:pPr lvl="0" indent="0">
              <a:buNone/>
            </a:pPr>
            <a:r>
              <a:rPr>
                <a:latin typeface="Courier"/>
              </a:rPr>
              <a:t>(53277, 31)</a:t>
            </a:r>
          </a:p>
          <a:p>
            <a:pPr lvl="0" indent="0" marL="0">
              <a:spcBef>
                <a:spcPts val="3000"/>
              </a:spcBef>
              <a:buNone/>
            </a:pPr>
            <a:r>
              <a:rPr b="1"/>
              <a:t>Fill in NA’s with 0</a:t>
            </a:r>
          </a:p>
          <a:p>
            <a:pPr lvl="0" indent="0" marL="0">
              <a:buNone/>
            </a:pPr>
            <a:r>
              <a:rPr/>
              <a:t>::: {#filter-parcel-export-for-pca-(only-numeric-columns .cell cache=‘true’ execution_count=8}</a:t>
            </a:r>
          </a:p>
          <a:p>
            <a:pPr lvl="0" indent="0">
              <a:buNone/>
            </a:pPr>
            <a:r>
              <a:rPr>
                <a:latin typeface="Courier"/>
              </a:rPr>
              <a:t>&lt;class 'pandas.core.frame.DataFrame'&gt;
RangeIndex: 53277 entries, 0 to 53276
Data columns (total 31 columns):
 #   Column                     Non-Null Count  Dtype  
---  ------                     --------------  -----  
 0   Acreage                    53277 non-null  float64
 1   TotGLA                     53277 non-null  float64
 2   Tot Bsmt                   53277 non-null  float64
 3   EffYearBuilt_Weighted      53277 non-null  float64
 4   Quality_Weighted           53277 non-null  float64
 5   FullBaths_Total            53277 non-null  float64
 6   HalfBaths_Total            53277 non-null  float64
 7   BsmtFinishPct_Weighted     53277 non-null  float64
 8   Laundry_Count              53277 non-null  float64
 9   KitchenCount               53277 non-null  float64
 10  CarportArea                53277 non-null  float64
 11  CarportCapacity            53277 non-null  float64
 12  GarageArea                 53277 non-null  float64
 13  GarageCapacity             53277 non-null  float64
 14  Main_YearBuilt             53277 non-null  float64
 15  Count_DetGarage            53277 non-null  float64
 16  SqFt_DetGarage             53277 non-null  float64
 17  Count_ DetCarport          53277 non-null  float64
 18  SqFt_DetCarport            53277 non-null  float64
 19  Count_Barn                 53277 non-null  float64
 20  Sqft_Barn                  53277 non-null  float64
 21  Count_Guest_House          53277 non-null  float64
 22  SqFt_Guest_House           53277 non-null  float64
 23  Count_Pools                53277 non-null  float64
 24  SqFt_Pools                 53277 non-null  float64
 25  Count_Recreational_Courts  53277 non-null  float64
 26  SqFt_Recreational_Courts   53277 non-null  float64
 27  Count_Shed                 53277 non-null  float64
 28  SqFt_Shed                  53277 non-null  float64
 29  Count_Gazebo_Pavilion      53277 non-null  float64
 30  SqFt_Gazebo_Pavilion       53277 non-null  float64
dtypes: float64(31)
memory usage: 12.6 MB</a:t>
            </a:r>
          </a:p>
          <a:p>
            <a:pPr lvl="0" indent="0" marL="0">
              <a:buNone/>
            </a:pPr>
            <a:r>
              <a:rPr/>
              <a:t>:::</a:t>
            </a:r>
          </a:p>
          <a:p>
            <a:pPr lvl="0" indent="0">
              <a:buNone/>
            </a:pPr>
            <a:r>
              <a:rPr>
                <a:latin typeface="Courier"/>
              </a:rPr>
              <a:t>Experiments complete for 31 variables.</a:t>
            </a:r>
          </a:p>
          <a:p>
            <a:pPr lvl="0" indent="0">
              <a:buNone/>
            </a:pPr>
            <a:r>
              <a:rPr>
                <a:latin typeface="Courier"/>
              </a:rPr>
              <a:t>Index(['Acreage_inv', 'TotGLA_inv', 'Tot Bsmt_inv',
       'EffYearBuilt_Weighted_inv', 'Quality_Weighted_inv',
       'FullBaths_Total_inv', 'HalfBaths_Total_inv',
       'BsmtFinishPct_Weighted_inv', 'Laundry_Count_inv', 'KitchenCount_inv',
       'CarportArea_inv', 'CarportCapacity_inv', 'GarageArea_inv',
       'GarageCapacity_inv', 'Main_YearBuilt_inv', 'Count_DetGarage_inv',
       'SqFt_DetGarage_inv', 'Count_ DetCarport_inv', 'SqFt_DetCarport_inv',
       'Count_Barn_inv', 'Sqft_Barn_inv', 'Count_Guest_House_inv',
       'SqFt_Guest_House_inv', 'Count_Pools_inv', 'SqFt_Pools_inv',
       'Count_Recreational_Courts_inv', 'SqFt_Recreational_Courts_inv',
       'Count_Shed_inv', 'SqFt_Shed_inv', 'Count_Gazebo_Pavilion_inv',
       'SqFt_Gazebo_Pavilion_inv'],
      dtype='object')</a:t>
            </a:r>
          </a:p>
          <a:p>
            <a:pPr lvl="0" indent="0" marL="0">
              <a:spcBef>
                <a:spcPts val="3000"/>
              </a:spcBef>
              <a:buNone/>
            </a:pPr>
            <a:r>
              <a:rPr b="1"/>
              <a:t>Scale and Conduct PCA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0" bandRow="1">
                <a:tableStyleId>{5C22544A-7EE6-4342-B048-85BDC9FD1C3A}</a:tableStyleId>
              </a:tblPr>
              <a:tblGrid>
                <a:gridCol w="1701800"/>
                <a:gridCol w="1701800"/>
                <a:gridCol w="1701800"/>
              </a:tblGrid>
              <a:tr h="0">
                <a:tc>
                  <a:txBody>
                    <a:bodyPr/>
                    <a:lstStyle/>
                    <a:p>
                      <a:pPr lvl="0" indent="0" marL="0">
                        <a:buNone/>
                      </a:pPr>
                    </a:p>
                  </a:txBody>
                </a:tc>
                <a:tc>
                  <a:txBody>
                    <a:bodyPr/>
                    <a:lstStyle/>
                    <a:p>
                      <a:pPr lvl="0" indent="0" marL="0">
                        <a:buNone/>
                      </a:pPr>
                      <a:r>
                        <a:rPr>
                          <a:hlinkClick r:id="rId2"/>
                        </a:rPr>
                        <a:t>n_components n_components: int, float or 'mle', default=None</a:t>
                      </a:r>
                      <a:br/>
                      <a:br/>
                      <a:r>
                        <a:rPr>
                          <a:hlinkClick r:id="rId3"/>
                        </a:rPr>
                        <a:t>Number of components to keep.</a:t>
                      </a:r>
                      <a:br/>
                      <a:r>
                        <a:rPr>
                          <a:hlinkClick r:id="rId4"/>
                        </a:rPr>
                        <a:t>if n_components is not set all components are kept::</a:t>
                      </a:r>
                      <a:br/>
                      <a:br/>
                      <a:r>
                        <a:rPr>
                          <a:hlinkClick r:id="rId5"/>
                        </a:rPr>
                        <a:t>n_components == min(n_samples, n_features)</a:t>
                      </a:r>
                      <a:br/>
                      <a:br/>
                      <a:r>
                        <a:rPr>
                          <a:hlinkClick r:id="rId6"/>
                        </a:rPr>
                        <a:t>If ``n_components == 'mle'`` and ``svd_solver == 'full'``, Minka's</a:t>
                      </a:r>
                      <a:br/>
                      <a:r>
                        <a:rPr>
                          <a:hlinkClick r:id="rId7"/>
                        </a:rPr>
                        <a:t>MLE is used to guess the dimension. Use of ``n_components == 'mle'``</a:t>
                      </a:r>
                      <a:br/>
                      <a:r>
                        <a:rPr>
                          <a:hlinkClick r:id="rId8"/>
                        </a:rPr>
                        <a:t>will interpret ``svd_solver == 'auto'`` as ``svd_solver == 'full'``.</a:t>
                      </a:r>
                      <a:br/>
                      <a:br/>
                      <a:r>
                        <a:rPr>
                          <a:hlinkClick r:id="rId9"/>
                        </a:rPr>
                        <a:t>If ``0 &lt; n_components &lt; 1`` and ``svd_solver == 'full'``, select the</a:t>
                      </a:r>
                      <a:br/>
                      <a:r>
                        <a:rPr>
                          <a:hlinkClick r:id="rId10"/>
                        </a:rPr>
                        <a:t>number of components such that the amount of variance that needs to be</a:t>
                      </a:r>
                      <a:br/>
                      <a:r>
                        <a:rPr>
                          <a:hlinkClick r:id="rId11"/>
                        </a:rPr>
                        <a:t>explained is greater than the percentage specified by n_components.</a:t>
                      </a:r>
                      <a:br/>
                      <a:br/>
                      <a:r>
                        <a:rPr>
                          <a:hlinkClick r:id="rId12"/>
                        </a:rPr>
                        <a:t>If ``svd_solver == 'arpack'``, the number of components must be</a:t>
                      </a:r>
                      <a:br/>
                      <a:r>
                        <a:rPr>
                          <a:hlinkClick r:id="rId13"/>
                        </a:rPr>
                        <a:t>strictly less than the minimum of n_features and n_samples.</a:t>
                      </a:r>
                      <a:br/>
                      <a:br/>
                      <a:r>
                        <a:rPr>
                          <a:hlinkClick r:id="rId14"/>
                        </a:rPr>
                        <a:t>Hence, the None case results in::</a:t>
                      </a:r>
                      <a:br/>
                      <a:br/>
                      <a:r>
                        <a:rPr>
                          <a:hlinkClick r:id="rId15"/>
                        </a:rPr>
                        <a:t>n_components == min(n_samples, n_features) - 1</a:t>
                      </a:r>
                    </a:p>
                  </a:txBody>
                </a:tc>
                <a:tc>
                  <a:txBody>
                    <a:bodyPr/>
                    <a:lstStyle/>
                    <a:p>
                      <a:pPr lvl="0" indent="0" marL="0">
                        <a:buNone/>
                      </a:pPr>
                      <a:r>
                        <a:rPr/>
                        <a:t>None</a:t>
                      </a:r>
                    </a:p>
                  </a:txBody>
                </a:tc>
              </a:tr>
              <a:tr h="0">
                <a:tc>
                  <a:txBody>
                    <a:bodyPr/>
                    <a:lstStyle/>
                    <a:p>
                      <a:pPr lvl="0" indent="0" marL="0">
                        <a:buNone/>
                      </a:pPr>
                    </a:p>
                  </a:txBody>
                </a:tc>
                <a:tc>
                  <a:txBody>
                    <a:bodyPr/>
                    <a:lstStyle/>
                    <a:p>
                      <a:pPr lvl="0" indent="0" marL="0">
                        <a:buNone/>
                      </a:pPr>
                      <a:r>
                        <a:rPr>
                          <a:hlinkClick r:id="rId16"/>
                        </a:rPr>
                        <a:t>copy copy: bool, default=True</a:t>
                      </a:r>
                      <a:br/>
                      <a:br/>
                      <a:r>
                        <a:rPr>
                          <a:hlinkClick r:id="rId17"/>
                        </a:rPr>
                        <a:t>If False, data passed to fit are overwritten and running</a:t>
                      </a:r>
                      <a:br/>
                      <a:r>
                        <a:rPr>
                          <a:hlinkClick r:id="rId18"/>
                        </a:rPr>
                        <a:t>fit(X).transform(X) will not yield the expected results,</a:t>
                      </a:r>
                      <a:br/>
                      <a:r>
                        <a:rPr>
                          <a:hlinkClick r:id="rId19"/>
                        </a:rPr>
                        <a:t>use fit_transform(X) instead.</a:t>
                      </a:r>
                    </a:p>
                  </a:txBody>
                </a:tc>
                <a:tc>
                  <a:txBody>
                    <a:bodyPr/>
                    <a:lstStyle/>
                    <a:p>
                      <a:pPr lvl="0" indent="0" marL="0">
                        <a:buNone/>
                      </a:pPr>
                      <a:r>
                        <a:rPr/>
                        <a:t>True</a:t>
                      </a:r>
                    </a:p>
                  </a:txBody>
                </a:tc>
              </a:tr>
              <a:tr h="0">
                <a:tc>
                  <a:txBody>
                    <a:bodyPr/>
                    <a:lstStyle/>
                    <a:p>
                      <a:pPr lvl="0" indent="0" marL="0">
                        <a:buNone/>
                      </a:pPr>
                    </a:p>
                  </a:txBody>
                </a:tc>
                <a:tc>
                  <a:txBody>
                    <a:bodyPr/>
                    <a:lstStyle/>
                    <a:p>
                      <a:pPr lvl="0" indent="0" marL="0">
                        <a:buNone/>
                      </a:pPr>
                      <a:r>
                        <a:rPr>
                          <a:hlinkClick r:id="rId20"/>
                        </a:rPr>
                        <a:t>whiten whiten: bool, default=False</a:t>
                      </a:r>
                      <a:br/>
                      <a:br/>
                      <a:r>
                        <a:rPr>
                          <a:hlinkClick r:id="rId21"/>
                        </a:rPr>
                        <a:t>When True (False by default) the `components_` vectors are multiplied</a:t>
                      </a:r>
                      <a:br/>
                      <a:r>
                        <a:rPr>
                          <a:hlinkClick r:id="rId22"/>
                        </a:rPr>
                        <a:t>by the square root of n_samples and then divided by the singular values</a:t>
                      </a:r>
                      <a:br/>
                      <a:r>
                        <a:rPr>
                          <a:hlinkClick r:id="rId23"/>
                        </a:rPr>
                        <a:t>to ensure uncorrelated outputs with unit component-wise variances.</a:t>
                      </a:r>
                      <a:br/>
                      <a:br/>
                      <a:r>
                        <a:rPr>
                          <a:hlinkClick r:id="rId24"/>
                        </a:rPr>
                        <a:t>Whitening will remove some information from the transformed signal</a:t>
                      </a:r>
                      <a:br/>
                      <a:r>
                        <a:rPr>
                          <a:hlinkClick r:id="rId25"/>
                        </a:rPr>
                        <a:t>(the relative variance scales of the components) but can sometime</a:t>
                      </a:r>
                      <a:br/>
                      <a:r>
                        <a:rPr>
                          <a:hlinkClick r:id="rId26"/>
                        </a:rPr>
                        <a:t>improve the predictive accuracy of the downstream estimators by</a:t>
                      </a:r>
                      <a:br/>
                      <a:r>
                        <a:rPr>
                          <a:hlinkClick r:id="rId27"/>
                        </a:rPr>
                        <a:t>making their data respect some hard-wired assumptions.</a:t>
                      </a:r>
                    </a:p>
                  </a:txBody>
                </a:tc>
                <a:tc>
                  <a:txBody>
                    <a:bodyPr/>
                    <a:lstStyle/>
                    <a:p>
                      <a:pPr lvl="0" indent="0" marL="0">
                        <a:buNone/>
                      </a:pPr>
                      <a:r>
                        <a:rPr/>
                        <a:t>False</a:t>
                      </a:r>
                    </a:p>
                  </a:txBody>
                </a:tc>
              </a:tr>
              <a:tr h="0">
                <a:tc>
                  <a:txBody>
                    <a:bodyPr/>
                    <a:lstStyle/>
                    <a:p>
                      <a:pPr lvl="0" indent="0" marL="0">
                        <a:buNone/>
                      </a:pPr>
                    </a:p>
                  </a:txBody>
                </a:tc>
                <a:tc>
                  <a:txBody>
                    <a:bodyPr/>
                    <a:lstStyle/>
                    <a:p>
                      <a:pPr lvl="0" indent="0" marL="0">
                        <a:buNone/>
                      </a:pPr>
                      <a:r>
                        <a:rPr>
                          <a:hlinkClick r:id="rId28"/>
                        </a:rPr>
                        <a:t>svd_solver svd_solver: {'auto', 'full', 'covariance_eigh', 'arpack', 'randomized'}, default='auto'</a:t>
                      </a:r>
                      <a:br/>
                      <a:br/>
                      <a:r>
                        <a:rPr>
                          <a:hlinkClick r:id="rId29"/>
                        </a:rPr>
                        <a:t>"auto" :</a:t>
                      </a:r>
                      <a:br/>
                      <a:r>
                        <a:rPr>
                          <a:hlinkClick r:id="rId30"/>
                        </a:rPr>
                        <a:t>The solver is selected by a default 'auto' policy is based on `X.shape` and</a:t>
                      </a:r>
                      <a:br/>
                      <a:r>
                        <a:rPr>
                          <a:hlinkClick r:id="rId31"/>
                        </a:rPr>
                        <a:t>`n_components`: if the input data has fewer than 1000 features and</a:t>
                      </a:r>
                      <a:br/>
                      <a:r>
                        <a:rPr>
                          <a:hlinkClick r:id="rId32"/>
                        </a:rPr>
                        <a:t>more than 10 times as many samples, then the "covariance_eigh"</a:t>
                      </a:r>
                      <a:br/>
                      <a:r>
                        <a:rPr>
                          <a:hlinkClick r:id="rId33"/>
                        </a:rPr>
                        <a:t>solver is used. Otherwise, if the input data is larger than 500x500</a:t>
                      </a:r>
                      <a:br/>
                      <a:r>
                        <a:rPr>
                          <a:hlinkClick r:id="rId34"/>
                        </a:rPr>
                        <a:t>and the number of components to extract is lower than 80% of the</a:t>
                      </a:r>
                      <a:br/>
                      <a:r>
                        <a:rPr>
                          <a:hlinkClick r:id="rId35"/>
                        </a:rPr>
                        <a:t>smallest dimension of the data, then the more efficient</a:t>
                      </a:r>
                      <a:br/>
                      <a:r>
                        <a:rPr>
                          <a:hlinkClick r:id="rId36"/>
                        </a:rPr>
                        <a:t>"randomized" method is selected. Otherwise the exact "full" SVD is</a:t>
                      </a:r>
                      <a:br/>
                      <a:r>
                        <a:rPr>
                          <a:hlinkClick r:id="rId37"/>
                        </a:rPr>
                        <a:t>computed and optionally truncated afterwards.</a:t>
                      </a:r>
                      <a:br/>
                      <a:r>
                        <a:rPr>
                          <a:hlinkClick r:id="rId38"/>
                        </a:rPr>
                        <a:t>"full" :</a:t>
                      </a:r>
                      <a:br/>
                      <a:r>
                        <a:rPr>
                          <a:hlinkClick r:id="rId39"/>
                        </a:rPr>
                        <a:t>Run exact full SVD calling the standard LAPACK solver via</a:t>
                      </a:r>
                      <a:br/>
                      <a:r>
                        <a:rPr>
                          <a:hlinkClick r:id="rId40"/>
                        </a:rPr>
                        <a:t>`scipy.linalg.svd` and select the components by postprocessing</a:t>
                      </a:r>
                      <a:br/>
                      <a:r>
                        <a:rPr>
                          <a:hlinkClick r:id="rId41"/>
                        </a:rPr>
                        <a:t>"covariance_eigh" :</a:t>
                      </a:r>
                      <a:br/>
                      <a:r>
                        <a:rPr>
                          <a:hlinkClick r:id="rId42"/>
                        </a:rPr>
                        <a:t>Precompute the covariance matrix (on centered data), run a</a:t>
                      </a:r>
                      <a:br/>
                      <a:r>
                        <a:rPr>
                          <a:hlinkClick r:id="rId43"/>
                        </a:rPr>
                        <a:t>classical eigenvalue decomposition on the covariance matrix</a:t>
                      </a:r>
                      <a:br/>
                      <a:r>
                        <a:rPr>
                          <a:hlinkClick r:id="rId44"/>
                        </a:rPr>
                        <a:t>typically using LAPACK and select the components by postprocessing.</a:t>
                      </a:r>
                      <a:br/>
                      <a:r>
                        <a:rPr>
                          <a:hlinkClick r:id="rId45"/>
                        </a:rPr>
                        <a:t>This solver is very efficient for n_samples &gt;&gt; n_features and small</a:t>
                      </a:r>
                      <a:br/>
                      <a:r>
                        <a:rPr>
                          <a:hlinkClick r:id="rId46"/>
                        </a:rPr>
                        <a:t>n_features. It is, however, not tractable otherwise for large</a:t>
                      </a:r>
                      <a:br/>
                      <a:r>
                        <a:rPr>
                          <a:hlinkClick r:id="rId47"/>
                        </a:rPr>
                        <a:t>n_features (large memory footprint required to materialize the</a:t>
                      </a:r>
                      <a:br/>
                      <a:r>
                        <a:rPr>
                          <a:hlinkClick r:id="rId48"/>
                        </a:rPr>
                        <a:t>covariance matrix). Also note that compared to the "full" solver,</a:t>
                      </a:r>
                      <a:br/>
                      <a:r>
                        <a:rPr>
                          <a:hlinkClick r:id="rId49"/>
                        </a:rPr>
                        <a:t>this solver effectively doubles the condition number and is</a:t>
                      </a:r>
                      <a:br/>
                      <a:r>
                        <a:rPr>
                          <a:hlinkClick r:id="rId50"/>
                        </a:rPr>
                        <a:t>therefore less numerical stable (e.g. on input data with a large</a:t>
                      </a:r>
                      <a:br/>
                      <a:r>
                        <a:rPr>
                          <a:hlinkClick r:id="rId51"/>
                        </a:rPr>
                        <a:t>range of singular values).</a:t>
                      </a:r>
                      <a:br/>
                      <a:r>
                        <a:rPr>
                          <a:hlinkClick r:id="rId52"/>
                        </a:rPr>
                        <a:t>"arpack" :</a:t>
                      </a:r>
                      <a:br/>
                      <a:r>
                        <a:rPr>
                          <a:hlinkClick r:id="rId53"/>
                        </a:rPr>
                        <a:t>Run SVD truncated to `n_components` calling ARPACK solver via</a:t>
                      </a:r>
                      <a:br/>
                      <a:r>
                        <a:rPr>
                          <a:hlinkClick r:id="rId54"/>
                        </a:rPr>
                        <a:t>`scipy.sparse.linalg.svds`. It requires strictly</a:t>
                      </a:r>
                      <a:br/>
                      <a:r>
                        <a:rPr>
                          <a:hlinkClick r:id="rId55"/>
                        </a:rPr>
                        <a:t>`0 &lt; n_components &lt; min(X.shape)`</a:t>
                      </a:r>
                      <a:br/>
                      <a:r>
                        <a:rPr>
                          <a:hlinkClick r:id="rId56"/>
                        </a:rPr>
                        <a:t>"randomized" :</a:t>
                      </a:r>
                      <a:br/>
                      <a:r>
                        <a:rPr>
                          <a:hlinkClick r:id="rId57"/>
                        </a:rPr>
                        <a:t>Run randomized SVD by the method of Halko et al.</a:t>
                      </a:r>
                      <a:br/>
                      <a:br/>
                      <a:r>
                        <a:rPr>
                          <a:hlinkClick r:id="rId58"/>
                        </a:rPr>
                        <a:t>.. versionadded:: 0.18.0</a:t>
                      </a:r>
                      <a:br/>
                      <a:br/>
                      <a:r>
                        <a:rPr>
                          <a:hlinkClick r:id="rId59"/>
                        </a:rPr>
                        <a:t>.. versionchanged:: 1.5</a:t>
                      </a:r>
                      <a:br/>
                      <a:r>
                        <a:rPr>
                          <a:hlinkClick r:id="rId60"/>
                        </a:rPr>
                        <a:t>Added the 'covariance_eigh' solver.</a:t>
                      </a:r>
                    </a:p>
                  </a:txBody>
                </a:tc>
                <a:tc>
                  <a:txBody>
                    <a:bodyPr/>
                    <a:lstStyle/>
                    <a:p>
                      <a:pPr lvl="0" indent="0" marL="0">
                        <a:buNone/>
                      </a:pPr>
                      <a:r>
                        <a:rPr/>
                        <a:t>'auto'</a:t>
                      </a:r>
                    </a:p>
                  </a:txBody>
                </a:tc>
              </a:tr>
              <a:tr h="0">
                <a:tc>
                  <a:txBody>
                    <a:bodyPr/>
                    <a:lstStyle/>
                    <a:p>
                      <a:pPr lvl="0" indent="0" marL="0">
                        <a:buNone/>
                      </a:pPr>
                    </a:p>
                  </a:txBody>
                </a:tc>
                <a:tc>
                  <a:txBody>
                    <a:bodyPr/>
                    <a:lstStyle/>
                    <a:p>
                      <a:pPr lvl="0" indent="0" marL="0">
                        <a:buNone/>
                      </a:pPr>
                      <a:r>
                        <a:rPr>
                          <a:hlinkClick r:id="rId61"/>
                        </a:rPr>
                        <a:t>tol tol: float, default=0.0</a:t>
                      </a:r>
                      <a:br/>
                      <a:br/>
                      <a:r>
                        <a:rPr>
                          <a:hlinkClick r:id="rId62"/>
                        </a:rPr>
                        <a:t>Tolerance for singular values computed by svd_solver == 'arpack'.</a:t>
                      </a:r>
                      <a:br/>
                      <a:r>
                        <a:rPr>
                          <a:hlinkClick r:id="rId63"/>
                        </a:rPr>
                        <a:t>Must be of range [0.0, infinity).</a:t>
                      </a:r>
                      <a:br/>
                      <a:br/>
                      <a:r>
                        <a:rPr>
                          <a:hlinkClick r:id="rId64"/>
                        </a:rPr>
                        <a:t>.. versionadded:: 0.18.0</a:t>
                      </a:r>
                    </a:p>
                  </a:txBody>
                </a:tc>
                <a:tc>
                  <a:txBody>
                    <a:bodyPr/>
                    <a:lstStyle/>
                    <a:p>
                      <a:pPr lvl="0" indent="0" marL="0">
                        <a:buNone/>
                      </a:pPr>
                      <a:r>
                        <a:rPr/>
                        <a:t>0.0</a:t>
                      </a:r>
                    </a:p>
                  </a:txBody>
                </a:tc>
              </a:tr>
              <a:tr h="0">
                <a:tc>
                  <a:txBody>
                    <a:bodyPr/>
                    <a:lstStyle/>
                    <a:p>
                      <a:pPr lvl="0" indent="0" marL="0">
                        <a:buNone/>
                      </a:pPr>
                    </a:p>
                  </a:txBody>
                </a:tc>
                <a:tc>
                  <a:txBody>
                    <a:bodyPr/>
                    <a:lstStyle/>
                    <a:p>
                      <a:pPr lvl="0" indent="0" marL="0">
                        <a:buNone/>
                      </a:pPr>
                      <a:r>
                        <a:rPr>
                          <a:hlinkClick r:id="rId65"/>
                        </a:rPr>
                        <a:t>iterated_power iterated_power: int or 'auto', default='auto'</a:t>
                      </a:r>
                      <a:br/>
                      <a:br/>
                      <a:r>
                        <a:rPr>
                          <a:hlinkClick r:id="rId66"/>
                        </a:rPr>
                        <a:t>Number of iterations for the power method computed by</a:t>
                      </a:r>
                      <a:br/>
                      <a:r>
                        <a:rPr>
                          <a:hlinkClick r:id="rId67"/>
                        </a:rPr>
                        <a:t>svd_solver == 'randomized'.</a:t>
                      </a:r>
                      <a:br/>
                      <a:r>
                        <a:rPr>
                          <a:hlinkClick r:id="rId68"/>
                        </a:rPr>
                        <a:t>Must be of range [0, infinity).</a:t>
                      </a:r>
                      <a:br/>
                      <a:br/>
                      <a:r>
                        <a:rPr>
                          <a:hlinkClick r:id="rId69"/>
                        </a:rPr>
                        <a:t>.. versionadded:: 0.18.0</a:t>
                      </a:r>
                    </a:p>
                  </a:txBody>
                </a:tc>
                <a:tc>
                  <a:txBody>
                    <a:bodyPr/>
                    <a:lstStyle/>
                    <a:p>
                      <a:pPr lvl="0" indent="0" marL="0">
                        <a:buNone/>
                      </a:pPr>
                      <a:r>
                        <a:rPr/>
                        <a:t>'auto'</a:t>
                      </a:r>
                    </a:p>
                  </a:txBody>
                </a:tc>
              </a:tr>
              <a:tr h="0">
                <a:tc>
                  <a:txBody>
                    <a:bodyPr/>
                    <a:lstStyle/>
                    <a:p>
                      <a:pPr lvl="0" indent="0" marL="0">
                        <a:buNone/>
                      </a:pPr>
                    </a:p>
                  </a:txBody>
                </a:tc>
                <a:tc>
                  <a:txBody>
                    <a:bodyPr/>
                    <a:lstStyle/>
                    <a:p>
                      <a:pPr lvl="0" indent="0" marL="0">
                        <a:buNone/>
                      </a:pPr>
                      <a:r>
                        <a:rPr>
                          <a:hlinkClick r:id="rId70"/>
                        </a:rPr>
                        <a:t>n_oversamples n_oversamples: int, default=10</a:t>
                      </a:r>
                      <a:br/>
                      <a:br/>
                      <a:r>
                        <a:rPr>
                          <a:hlinkClick r:id="rId71"/>
                        </a:rPr>
                        <a:t>This parameter is only relevant when `svd_solver="randomized"`.</a:t>
                      </a:r>
                      <a:br/>
                      <a:r>
                        <a:rPr>
                          <a:hlinkClick r:id="rId72"/>
                        </a:rPr>
                        <a:t>It corresponds to the additional number of random vectors to sample the</a:t>
                      </a:r>
                      <a:br/>
                      <a:r>
                        <a:rPr>
                          <a:hlinkClick r:id="rId73"/>
                        </a:rPr>
                        <a:t>range of `X` so as to ensure proper conditioning. See</a:t>
                      </a:r>
                      <a:br/>
                      <a:r>
                        <a:rPr>
                          <a:hlinkClick r:id="rId74"/>
                        </a:rPr>
                        <a:t>:func:`~sklearn.utils.extmath.randomized_svd` for more details.</a:t>
                      </a:r>
                      <a:br/>
                      <a:br/>
                      <a:r>
                        <a:rPr>
                          <a:hlinkClick r:id="rId75"/>
                        </a:rPr>
                        <a:t>.. versionadded:: 1.1</a:t>
                      </a:r>
                    </a:p>
                  </a:txBody>
                </a:tc>
                <a:tc>
                  <a:txBody>
                    <a:bodyPr/>
                    <a:lstStyle/>
                    <a:p>
                      <a:pPr lvl="0" indent="0" marL="0">
                        <a:buNone/>
                      </a:pPr>
                      <a:r>
                        <a:rPr/>
                        <a:t>10</a:t>
                      </a:r>
                    </a:p>
                  </a:txBody>
                </a:tc>
              </a:tr>
              <a:tr h="0">
                <a:tc>
                  <a:txBody>
                    <a:bodyPr/>
                    <a:lstStyle/>
                    <a:p>
                      <a:pPr lvl="0" indent="0" marL="0">
                        <a:buNone/>
                      </a:pPr>
                    </a:p>
                  </a:txBody>
                </a:tc>
                <a:tc>
                  <a:txBody>
                    <a:bodyPr/>
                    <a:lstStyle/>
                    <a:p>
                      <a:pPr lvl="0" indent="0" marL="0">
                        <a:buNone/>
                      </a:pPr>
                      <a:r>
                        <a:rPr>
                          <a:hlinkClick r:id="rId76"/>
                        </a:rPr>
                        <a:t>power_iteration_normalizer power_iteration_normalizer: {'auto', 'QR', 'LU', 'none'}, default='auto'</a:t>
                      </a:r>
                      <a:br/>
                      <a:br/>
                      <a:r>
                        <a:rPr>
                          <a:hlinkClick r:id="rId77"/>
                        </a:rPr>
                        <a:t>Power iteration normalizer for randomized SVD solver.</a:t>
                      </a:r>
                      <a:br/>
                      <a:r>
                        <a:rPr>
                          <a:hlinkClick r:id="rId78"/>
                        </a:rPr>
                        <a:t>Not used by ARPACK. See :func:`~sklearn.utils.extmath.randomized_svd`</a:t>
                      </a:r>
                      <a:br/>
                      <a:r>
                        <a:rPr>
                          <a:hlinkClick r:id="rId79"/>
                        </a:rPr>
                        <a:t>for more details.</a:t>
                      </a:r>
                      <a:br/>
                      <a:br/>
                      <a:r>
                        <a:rPr>
                          <a:hlinkClick r:id="rId80"/>
                        </a:rPr>
                        <a:t>.. versionadded:: 1.1</a:t>
                      </a:r>
                    </a:p>
                  </a:txBody>
                </a:tc>
                <a:tc>
                  <a:txBody>
                    <a:bodyPr/>
                    <a:lstStyle/>
                    <a:p>
                      <a:pPr lvl="0" indent="0" marL="0">
                        <a:buNone/>
                      </a:pPr>
                      <a:r>
                        <a:rPr/>
                        <a:t>'auto'</a:t>
                      </a:r>
                    </a:p>
                  </a:txBody>
                </a:tc>
              </a:tr>
              <a:tr h="0">
                <a:tc>
                  <a:txBody>
                    <a:bodyPr/>
                    <a:lstStyle/>
                    <a:p>
                      <a:pPr lvl="0" indent="0" marL="0">
                        <a:buNone/>
                      </a:pPr>
                    </a:p>
                  </a:txBody>
                </a:tc>
                <a:tc>
                  <a:txBody>
                    <a:bodyPr/>
                    <a:lstStyle/>
                    <a:p>
                      <a:pPr lvl="0" indent="0" marL="0">
                        <a:buNone/>
                      </a:pPr>
                      <a:r>
                        <a:rPr>
                          <a:hlinkClick r:id="rId81"/>
                        </a:rPr>
                        <a:t>random_state random_state: int, RandomState instance or None, default=None</a:t>
                      </a:r>
                      <a:br/>
                      <a:br/>
                      <a:r>
                        <a:rPr>
                          <a:hlinkClick r:id="rId82"/>
                        </a:rPr>
                        <a:t>Used when the 'arpack' or 'randomized' solvers are used. Pass an int</a:t>
                      </a:r>
                      <a:br/>
                      <a:r>
                        <a:rPr>
                          <a:hlinkClick r:id="rId83"/>
                        </a:rPr>
                        <a:t>for reproducible results across multiple function calls.</a:t>
                      </a:r>
                      <a:br/>
                      <a:r>
                        <a:rPr>
                          <a:hlinkClick r:id="rId84"/>
                        </a:rPr>
                        <a:t>See :term:`Glossary `.</a:t>
                      </a:r>
                      <a:br/>
                      <a:br/>
                      <a:r>
                        <a:rPr>
                          <a:hlinkClick r:id="rId85"/>
                        </a:rPr>
                        <a:t>.. versionadded:: 0.18.0</a:t>
                      </a:r>
                    </a:p>
                  </a:txBody>
                </a:tc>
                <a:tc>
                  <a:txBody>
                    <a:bodyPr/>
                    <a:lstStyle/>
                    <a:p>
                      <a:pPr lvl="0" indent="0" marL="0">
                        <a:buNone/>
                      </a:pPr>
                      <a:r>
                        <a:rPr/>
                        <a:t>None</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PCA Scree Plot</a:t>
            </a:r>
          </a:p>
        </p:txBody>
      </p:sp>
      <p:pic>
        <p:nvPicPr>
          <p:cNvPr descr="PCA_umap_files/figure-pptx/scree-plot-to-optimize-number-of-components-output-1.png" id="0" name="Picture 1"/>
          <p:cNvPicPr>
            <a:picLocks noGrp="1" noChangeAspect="1"/>
          </p:cNvPicPr>
          <p:nvPr/>
        </p:nvPicPr>
        <p:blipFill>
          <a:blip r:embed="rId2"/>
          <a:stretch>
            <a:fillRect/>
          </a:stretch>
        </p:blipFill>
        <p:spPr bwMode="auto">
          <a:xfrm>
            <a:off x="3568700" y="381000"/>
            <a:ext cx="5105400" cy="4025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np.float64(0.957643490995838)</a:t>
            </a:r>
          </a:p>
          <a:p>
            <a:pPr lvl="0" indent="0" marL="0">
              <a:spcBef>
                <a:spcPts val="3000"/>
              </a:spcBef>
              <a:buNone/>
            </a:pPr>
            <a:r>
              <a:rPr b="1"/>
              <a:t>PCA Loading Matrix</a:t>
            </a:r>
          </a:p>
        </p:txBody>
      </p:sp>
      <p:pic>
        <p:nvPicPr>
          <p:cNvPr descr="PCA_umap_files/figure-pptx/loading-matrix-output-1.png" id="0" name="Picture 1"/>
          <p:cNvPicPr>
            <a:picLocks noGrp="1" noChangeAspect="1"/>
          </p:cNvPicPr>
          <p:nvPr/>
        </p:nvPicPr>
        <p:blipFill>
          <a:blip r:embed="rId2"/>
          <a:stretch>
            <a:fillRect/>
          </a:stretch>
        </p:blipFill>
        <p:spPr bwMode="auto">
          <a:xfrm>
            <a:off x="3568700" y="812800"/>
            <a:ext cx="5105400" cy="31623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KMeans Cluster Scree Plot</a:t>
            </a:r>
          </a:p>
        </p:txBody>
      </p:sp>
      <p:pic>
        <p:nvPicPr>
          <p:cNvPr descr="PCA_umap_files/figure-pptx/identify-number-of-clusters-output-1.png" id="0" name="Picture 1"/>
          <p:cNvPicPr>
            <a:picLocks noGrp="1" noChangeAspect="1"/>
          </p:cNvPicPr>
          <p:nvPr/>
        </p:nvPicPr>
        <p:blipFill>
          <a:blip r:embed="rId2"/>
          <a:stretch>
            <a:fillRect/>
          </a:stretch>
        </p:blipFill>
        <p:spPr bwMode="auto">
          <a:xfrm>
            <a:off x="3568700" y="952500"/>
            <a:ext cx="5105400" cy="2882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KMeans Clustering on UMAP</a:t>
            </a:r>
          </a:p>
        </p:txBody>
      </p:sp>
      <p:pic>
        <p:nvPicPr>
          <p:cNvPr descr="PCA_umap_files/figure-pptx/final-clustering-output-1.png" id="0" name="Picture 1"/>
          <p:cNvPicPr>
            <a:picLocks noGrp="1" noChangeAspect="1"/>
          </p:cNvPicPr>
          <p:nvPr/>
        </p:nvPicPr>
        <p:blipFill>
          <a:blip r:embed="rId2"/>
          <a:stretch>
            <a:fillRect/>
          </a:stretch>
        </p:blipFill>
        <p:spPr bwMode="auto">
          <a:xfrm>
            <a:off x="3568700" y="444500"/>
            <a:ext cx="5105400" cy="38862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HDBSCAN Clustering on UMAP</a:t>
            </a:r>
          </a:p>
          <a:p>
            <a:pPr lvl="0" indent="0">
              <a:buNone/>
            </a:pPr>
            <a:r>
              <a:rPr>
                <a:latin typeface="Courier"/>
              </a:rPr>
              <a:t>HDBSCAN with min_cluster_size = 100
DBCV Score: 0.433</a:t>
            </a:r>
          </a:p>
        </p:txBody>
      </p:sp>
      <p:pic>
        <p:nvPicPr>
          <p:cNvPr descr="PCA_umap_files/figure-pptx/hdbscan-clustering-output-2.png" id="0" name="Picture 1"/>
          <p:cNvPicPr>
            <a:picLocks noGrp="1" noChangeAspect="1"/>
          </p:cNvPicPr>
          <p:nvPr/>
        </p:nvPicPr>
        <p:blipFill>
          <a:blip r:embed="rId2"/>
          <a:stretch>
            <a:fillRect/>
          </a:stretch>
        </p:blipFill>
        <p:spPr bwMode="auto">
          <a:xfrm>
            <a:off x="3568700" y="1028700"/>
            <a:ext cx="5105400" cy="27178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CA_umap_files/figure-pptx/hdbscan-clustering-output-3.png" id="0" name="Picture 1"/>
          <p:cNvPicPr>
            <a:picLocks noGrp="1" noChangeAspect="1"/>
          </p:cNvPicPr>
          <p:nvPr/>
        </p:nvPicPr>
        <p:blipFill>
          <a:blip r:embed="rId2"/>
          <a:stretch>
            <a:fillRect/>
          </a:stretch>
        </p:blipFill>
        <p:spPr bwMode="auto">
          <a:xfrm>
            <a:off x="2565400" y="1193800"/>
            <a:ext cx="40132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HDBSCAN with min_cluster_size = 200
DBCV Score: 0.204</a:t>
            </a:r>
          </a:p>
        </p:txBody>
      </p:sp>
      <p:pic>
        <p:nvPicPr>
          <p:cNvPr descr="PCA_umap_files/figure-pptx/hdbscan-clustering-output-5.png" id="0" name="Picture 1"/>
          <p:cNvPicPr>
            <a:picLocks noGrp="1" noChangeAspect="1"/>
          </p:cNvPicPr>
          <p:nvPr/>
        </p:nvPicPr>
        <p:blipFill>
          <a:blip r:embed="rId2"/>
          <a:stretch>
            <a:fillRect/>
          </a:stretch>
        </p:blipFill>
        <p:spPr bwMode="auto">
          <a:xfrm>
            <a:off x="3568700" y="1028700"/>
            <a:ext cx="5105400" cy="27178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CA_umap_files/figure-pptx/hdbscan-clustering-output-6.png" id="0" name="Picture 1"/>
          <p:cNvPicPr>
            <a:picLocks noGrp="1" noChangeAspect="1"/>
          </p:cNvPicPr>
          <p:nvPr/>
        </p:nvPicPr>
        <p:blipFill>
          <a:blip r:embed="rId2"/>
          <a:stretch>
            <a:fillRect/>
          </a:stretch>
        </p:blipFill>
        <p:spPr bwMode="auto">
          <a:xfrm>
            <a:off x="2590800" y="1193800"/>
            <a:ext cx="39624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HDBSCAN with min_cluster_size = 300
DBCV Score: 0.105</a:t>
            </a:r>
          </a:p>
        </p:txBody>
      </p:sp>
      <p:pic>
        <p:nvPicPr>
          <p:cNvPr descr="PCA_umap_files/figure-pptx/hdbscan-clustering-output-8.png" id="0" name="Picture 1"/>
          <p:cNvPicPr>
            <a:picLocks noGrp="1" noChangeAspect="1"/>
          </p:cNvPicPr>
          <p:nvPr/>
        </p:nvPicPr>
        <p:blipFill>
          <a:blip r:embed="rId2"/>
          <a:stretch>
            <a:fillRect/>
          </a:stretch>
        </p:blipFill>
        <p:spPr bwMode="auto">
          <a:xfrm>
            <a:off x="3568700" y="1028700"/>
            <a:ext cx="5105400" cy="27178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CA_umap_files/figure-pptx/hdbscan-clustering-output-9.png" id="0" name="Picture 1"/>
          <p:cNvPicPr>
            <a:picLocks noGrp="1" noChangeAspect="1"/>
          </p:cNvPicPr>
          <p:nvPr/>
        </p:nvPicPr>
        <p:blipFill>
          <a:blip r:embed="rId2"/>
          <a:stretch>
            <a:fillRect/>
          </a:stretch>
        </p:blipFill>
        <p:spPr bwMode="auto">
          <a:xfrm>
            <a:off x="2590800" y="1193800"/>
            <a:ext cx="39624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HDBSCAN with min_cluster_size = 400
DBCV Score: 0.109</a:t>
            </a:r>
          </a:p>
        </p:txBody>
      </p:sp>
      <p:pic>
        <p:nvPicPr>
          <p:cNvPr descr="PCA_umap_files/figure-pptx/hdbscan-clustering-output-11.png" id="0" name="Picture 1"/>
          <p:cNvPicPr>
            <a:picLocks noGrp="1" noChangeAspect="1"/>
          </p:cNvPicPr>
          <p:nvPr/>
        </p:nvPicPr>
        <p:blipFill>
          <a:blip r:embed="rId2"/>
          <a:stretch>
            <a:fillRect/>
          </a:stretch>
        </p:blipFill>
        <p:spPr bwMode="auto">
          <a:xfrm>
            <a:off x="3568700" y="1028700"/>
            <a:ext cx="5105400" cy="27178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CA_umap_files/figure-pptx/hdbscan-clustering-output-12.png" id="0" name="Picture 1"/>
          <p:cNvPicPr>
            <a:picLocks noGrp="1" noChangeAspect="1"/>
          </p:cNvPicPr>
          <p:nvPr/>
        </p:nvPicPr>
        <p:blipFill>
          <a:blip r:embed="rId2"/>
          <a:stretch>
            <a:fillRect/>
          </a:stretch>
        </p:blipFill>
        <p:spPr bwMode="auto">
          <a:xfrm>
            <a:off x="2590800" y="1193800"/>
            <a:ext cx="39624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HDBSCAN with min_cluster_size = 500
DBCV Score: 0.128</a:t>
            </a:r>
          </a:p>
        </p:txBody>
      </p:sp>
      <p:pic>
        <p:nvPicPr>
          <p:cNvPr descr="PCA_umap_files/figure-pptx/hdbscan-clustering-output-14.png" id="0" name="Picture 1"/>
          <p:cNvPicPr>
            <a:picLocks noGrp="1" noChangeAspect="1"/>
          </p:cNvPicPr>
          <p:nvPr/>
        </p:nvPicPr>
        <p:blipFill>
          <a:blip r:embed="rId2"/>
          <a:stretch>
            <a:fillRect/>
          </a:stretch>
        </p:blipFill>
        <p:spPr bwMode="auto">
          <a:xfrm>
            <a:off x="3568700" y="1028700"/>
            <a:ext cx="5105400" cy="27178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CA_umap_files/figure-pptx/hdbscan-clustering-output-15.png" id="0" name="Picture 1"/>
          <p:cNvPicPr>
            <a:picLocks noGrp="1" noChangeAspect="1"/>
          </p:cNvPicPr>
          <p:nvPr/>
        </p:nvPicPr>
        <p:blipFill>
          <a:blip r:embed="rId2"/>
          <a:stretch>
            <a:fillRect/>
          </a:stretch>
        </p:blipFill>
        <p:spPr bwMode="auto">
          <a:xfrm>
            <a:off x="2590800" y="1193800"/>
            <a:ext cx="39624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Cluster_ID                        -1         0            1            2   \
Acreage                     18.336733  1.694803     4.232411     0.381417   
TotGLA                     376.522894  0.000000  2026.118644  2357.978076   
Tot Bsmt                   105.781521  0.000000   829.546139     0.000000   
EffYearBuilt_Weighted      455.625879  0.000000  1947.155506  2016.424035   
Quality_Weighted             0.730694  0.000000     3.184073     3.650960   
FullBaths_Total              0.485541  0.000000     2.340866     2.204629   
HalfBaths_Total              0.099164  0.000000     0.391714     1.057247   
BsmtFinishPct_Weighted       0.048823  0.000000     0.243597     0.000000   
Laundry_Count                0.243168  0.000000     1.035782     1.038977   
KitchenCount                 0.236682  0.000000     1.048964     1.046285   
CarportArea                 16.016536  0.000000    25.001883     0.000000   
CarportCapacity              0.015921  0.000000     0.003766     0.000000   
GarageArea                  70.642465  0.000000   365.670433   787.194884   
GarageCapacity               0.263754  0.000000     1.384181     2.781973   
Main_YearBuilt             452.677562  0.000000  1927.000000  2010.567600   
Count_DetGarage              0.023714  0.000000     0.915254     0.000000   
SqFt_DetGarage              19.619315  0.000000   790.192090     0.000000   
Count_ DetCarport            0.013177  0.000000     0.003766     0.000000   
SqFt_DetCarport              4.086038  0.000000     0.783427     0.000000   
Count_Barn                   0.004333  0.000000     0.005650     0.000000   
Sqft_Barn                   13.853048  0.000000    13.529190     0.000000   
Count_Guest_House            0.000154  0.000000     0.001883     0.000000   
SqFt_Guest_House             0.044275  0.000000     1.647834     0.000000   
Count_Pools                  0.000103  0.000975     0.190207     0.000000   
SqFt_Pools                   0.072297  3.000000    91.598870     0.000000   
Count_Recreational_Courts    0.000256  0.000000     0.101695     0.000000   
SqFt_Recreational_Courts     0.754756  0.000000   177.617702     0.000000   
Count_Shed                   0.046839  0.000000     0.849341     0.000000   
SqFt_Shed                   44.036635  0.000000   287.860640     0.000000   
Count_Gazebo_Pavilion        0.002641  0.000000     0.016949     0.000000   
SqFt_Gazebo_Pavilion         0.787904  0.000000     4.483992     0.000000   
Cluster_ID                          3            4            5            6   \
Acreage                       0.982635     6.759167     0.952322     9.586915   
TotGLA                     1715.797799  1963.410861  1668.413005  2113.201967   
Tot Bsmt                   1517.624949   475.091189  1392.783831  1365.997377   
EffYearBuilt_Weighted      2011.217483  1968.827863  2008.167963  2011.410784   
Quality_Weighted              3.369847     2.998924     3.299155     3.539513   
FullBaths_Total               2.684876     2.200820     2.710018     2.533115   
HalfBaths_Total               0.000000     0.299180     0.000000     0.859672   
BsmtFinishPct_Weighted        0.722308     0.137387     0.742548     0.624643   
Laundry_Count                 1.028944     1.039959     1.029877     1.052459   
KitchenCount                  1.050958     1.060451     1.066784     1.082623   
CarportArea                   0.000000    38.840164     0.000000     0.000000   
CarportCapacity               0.000000     0.000000     0.000000     0.000000   
GarageArea                  659.546270   313.729508   609.778559   650.291803   
GarageCapacity                2.552385     1.190574     2.402460     2.423607   
Main_YearBuilt             2000.587036  1954.908811  1992.815466  1999.491803   
Count_DetGarage               0.000000     0.944672     0.000000     0.000000   
SqFt_DetGarage                0.000000   852.193648     0.000000     0.000000   
Count_ DetCarport             0.000000     0.000000     0.000000     0.000000   
SqFt_DetCarport               0.000000     0.000000     0.000000     0.000000   
Count_Barn                    0.000000     0.000000     0.000000     0.000000   
Sqft_Barn                     0.000000     0.000000     0.000000     0.000000   
Count_Guest_House             0.000000     0.001025     0.000000     0.000000   
SqFt_Guest_House              0.000000     1.475410     0.000000     0.000000   
Count_Pools                   0.000000     0.000000     0.000000     0.000000   
SqFt_Pools                    0.000000     0.000000     0.000000     0.000000   
Count_Recreational_Courts     0.000000     0.000000     0.001757     0.000000   
SqFt_Recreational_Courts      0.000000     0.000000     3.149385     0.000000   
Count_Shed                    0.000000     0.000000     1.154657     0.284590   
SqFt_Shed                     0.000000     0.000000   234.254833   149.184918   
Count_Gazebo_Pavilion         0.000000     0.000000     0.000000     0.000000   
SqFt_Gazebo_Pavilion          0.000000     0.000000     0.000000     0.000000   
Cluster_ID                          7            8            9            10  
Acreage                       0.451026     0.360936     3.151010    13.889657  
TotGLA                     1828.140428  1695.228522  1418.329470  1561.472169  
Tot Bsmt                      0.000000  1544.281787  1029.377483   189.669546  
EffYearBuilt_Weighted      2001.016772  2015.025973  2001.504073  1916.957261  
Quality_Weighted              3.415253     3.476343     3.088960     2.775813  
FullBaths_Total               2.145287     2.137457     2.311258     1.822137  
HalfBaths_Total               0.000000     0.000000     0.000000     0.220409  
BsmtFinishPct_Weighted        0.000000     0.000000     0.761385     0.106628  
Laundry_Count                 1.018950     1.017182     1.100993     1.000320  
KitchenCount                  1.011176     1.017182     1.259934     0.998401  
CarportArea                   0.000000     0.000000     0.000000    10.813180  
CarportCapacity               0.000000     0.000000     0.000000     0.000000  
GarageArea                  643.680758   653.635739     0.000000   161.756558  
GarageCapacity                2.427600     2.549828     0.001656     0.604287  
Main_YearBuilt             1994.310982  2008.520619  1967.812914  1900.779591  
Count_DetGarage               0.000000     0.000000     0.000000     0.095329  
SqFt_DetGarage                0.000000     0.000000     0.000000    87.182022  
Count_ DetCarport             0.000000     0.000000     0.000000     0.000000  
SqFt_DetCarport               0.000000     0.000000     0.000000     0.000000  
Count_Barn                    0.000000     0.000000     0.000000     0.000000  
Sqft_Barn                     0.000000     0.000000     0.000000     0.000000  
Count_Guest_House             0.000000     0.000000     0.001656     0.005438  
SqFt_Guest_House              0.000000     0.000000     0.173841     2.743442  
Count_Pools                   0.000000     0.000000     0.000000     0.000320  
SqFt_Pools                    0.000000     0.000000     0.000000     0.255918  
Count_Recreational_Courts     0.000000     0.000000     0.000000     0.000640  
SqFt_Recreational_Courts      0.000000     0.000000     0.000000     1.215611  
Count_Shed                    0.000000     0.000000     0.000000     0.298784  
SqFt_Shed                     0.000000     0.000000     0.000000    63.856366  
Count_Gazebo_Pavilion         0.000000     0.000000     0.000000     0.000000  
SqFt_Gazebo_Pavilion          0.000000     0.000000     0.000000     0.000000  </a:t>
            </a:r>
          </a:p>
          <a:p>
            <a:pPr lvl="0" indent="0" marL="0">
              <a:spcBef>
                <a:spcPts val="3000"/>
              </a:spcBef>
              <a:buNone/>
            </a:pPr>
            <a:r>
              <a:rPr b="1"/>
              <a:t>PCA Clustering on UMAP</a:t>
            </a:r>
          </a:p>
        </p:txBody>
      </p:sp>
      <p:pic>
        <p:nvPicPr>
          <p:cNvPr descr="PCA_umap_files/figure-pptx/pca-clustering-on-umap-output-1.png" id="0" name="Picture 1"/>
          <p:cNvPicPr>
            <a:picLocks noGrp="1" noChangeAspect="1"/>
          </p:cNvPicPr>
          <p:nvPr/>
        </p:nvPicPr>
        <p:blipFill>
          <a:blip r:embed="rId2"/>
          <a:stretch>
            <a:fillRect/>
          </a:stretch>
        </p:blipFill>
        <p:spPr bwMode="auto">
          <a:xfrm>
            <a:off x="3568700" y="711200"/>
            <a:ext cx="5105400" cy="33782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Key Findings: PCA Components: - PC1: contains standard variables.</a:t>
            </a:r>
            <a:br/>
            <a:r>
              <a:rPr/>
              <a:t>- PC2: focus on recreational outdoor features (ex pools, rec courts, etc)</a:t>
            </a:r>
            <a:br/>
            <a:r>
              <a:rPr/>
              <a:t>- PC3: focus on utility outdoor features (ex sheds, barns, etc)</a:t>
            </a:r>
            <a:br/>
            <a:r>
              <a:rPr/>
              <a:t>- PC4: focus on aggrecultural vs recreational utility features (carport v barn)</a:t>
            </a:r>
            <a:br/>
            <a:r>
              <a:rPr/>
              <a:t>- PC5: focus on guest features vs personal features (guest house v gazebo)</a:t>
            </a:r>
            <a:br/>
            <a:r>
              <a:rPr/>
              <a:t>- PC6: focus on niche</a:t>
            </a:r>
            <a:br/>
            <a:r>
              <a:rPr/>
              <a:t>- PC7: focus on niche</a:t>
            </a:r>
            <a:br/>
            <a:r>
              <a:rPr/>
              <a:t>- PC8: focus on niche</a:t>
            </a:r>
            <a:br/>
            <a:r>
              <a:rPr/>
              <a:t>- PC9: focus on external vehical storage vs general utility (detached garage v shed)</a:t>
            </a:r>
            <a:br/>
            <a:r>
              <a:rPr/>
              <a:t>- PC10: focus on attached vehical storage vs general utility (carport v shed)</a:t>
            </a:r>
            <a:br/>
            <a:r>
              <a:rPr/>
              <a:t>- PC11: focus on basement space and completion over vehical storage</a:t>
            </a:r>
            <a:br/>
            <a:r>
              <a:rPr/>
              <a:t>- PC12: focus on the land</a:t>
            </a:r>
            <a:br/>
            <a:r>
              <a:rPr/>
              <a:t>- PC13: focus on half-bath</a:t>
            </a:r>
            <a:br/>
          </a:p>
          <a:p>
            <a:pPr lvl="0" indent="0" marL="0">
              <a:buNone/>
            </a:pPr>
            <a:r>
              <a:rPr/>
              <a:t>Essentially, the standard features are evaluated in the first PC. All subsequent components look at the different combonations of features for various focuses, such as recreation, utility, etc.</a:t>
            </a:r>
          </a:p>
          <a:p>
            <a:pPr lvl="0" indent="0" marL="0">
              <a:buNone/>
            </a:pPr>
            <a:r>
              <a:rPr/>
              <a:t>The first PC (standard features) account for approximately 30% of variation in the home. All other feature account for 70% of what makes one home different from one another, with the biggest focuses for differentiation being recreation, utility, and, storage. Features such as half-bathrooms, while accounting for varation take up minimal percentage of differentiation.</a:t>
            </a:r>
          </a:p>
          <a:p>
            <a:pPr lvl="0" indent="0" marL="0">
              <a:buNone/>
            </a:pPr>
            <a:r>
              <a:rPr/>
              <a:t>This is specifically with Iron county properties. As the majority of these homes are rural and thus are chosen based on these features, it makes sense that they account for 70% of home variation.</a:t>
            </a:r>
          </a:p>
          <a:p>
            <a:pPr lvl="0" indent="0" marL="0">
              <a:buNone/>
            </a:pPr>
            <a:r>
              <a:rPr/>
              <a:t>If the final project is a program that will take features and output price, it may also be useful to adapt this toward the buyer themself, and allow them to determine their focus, placing weights on the pc’s themselves based on desired focus.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Supervised Learning</a:t>
            </a:r>
          </a:p>
        </p:txBody>
      </p:sp>
      <p:sp>
        <p:nvSpPr>
          <p:cNvPr id="4" name="Text Placeholder 3"/>
          <p:cNvSpPr>
            <a:spLocks noGrp="1"/>
          </p:cNvSpPr>
          <p:nvPr>
            <p:ph idx="2" sz="half" type="body"/>
          </p:nvPr>
        </p:nvSpPr>
        <p:spPr/>
        <p:txBody>
          <a:bodyPr/>
          <a:lstStyle/>
          <a:p>
            <a:pPr lvl="0" indent="0" marL="0">
              <a:spcBef>
                <a:spcPts val="3000"/>
              </a:spcBef>
              <a:buNone/>
            </a:pPr>
            <a:r>
              <a:rPr b="1"/>
              <a:t>Create Merged Dataset</a:t>
            </a:r>
          </a:p>
          <a:p>
            <a:pPr lvl="0" indent="0" marL="0">
              <a:spcBef>
                <a:spcPts val="3000"/>
              </a:spcBef>
              <a:buNone/>
            </a:pPr>
            <a:r>
              <a:rPr b="1"/>
              <a:t>View Merged Numeric Variables</a:t>
            </a:r>
          </a:p>
          <a:p>
            <a:pPr lvl="0" indent="0">
              <a:buNone/>
            </a:pPr>
            <a:r>
              <a:rPr>
                <a:latin typeface="Courier"/>
              </a:rPr>
              <a:t>['3/4 Baths',
 'Acreage',
 'Basement SqFt',
 'BsmtFinishPct_Weighted',
 'Cancel Date',
 'CarportArea',
 'CarportCapacity',
 'Concessions Amount',
 'Concessions4',
 'Count_ DetCarport',
 'Count_Barn',
 'Count_DetGarage',
 'Count_Gazebo_Pavilion',
 'Count_Guest_House',
 'Count_Pools',
 'Count_Recreational_Courts',
 'Count_Shed',
 'Days on Market',
 'EffYearBuilt_Weighted',
 'End Date',
 'Fallthrough Date',
 'Finished SqFt',
 'Fireplaces2',
 'Full Baths',
 'Full Baths3',
 'FullBaths_Total',
 'Garage Capacity',
 'GarageArea',
 'GarageCapacity',
 'HOA Dues $',
 'Half Baths',
 'HalfBaths_Total',
 'ImpCode',
 'ImpOnly',
 'Jurisdiction',
 'KitchenCount',
 'Kitchens',
 'Lat',
 'Laundry_Count',
 'List Number',
 'List Price',
 'Lng',
 'Lofts',
 'Lot Acres',
 'Lot Dimensions',
 'MLS Area',
 'Main SqFt',
 'Main_YearBuilt',
 'Marketing Begin Date',
 'Original List Price',
 'Postal Code',
 'PropType ',
 'Quality_Weighted',
 'Res Imp Count',
 'ReviewedDate',
 'Sold Price',
 'Sold Price Per/SqFt',
 'Special Taxes (SID)$',
 'SpecificPropType',
 'SqFt_DetCarport',
 'SqFt_DetGarage',
 'SqFt_Gazebo_Pavilion',
 'SqFt_Guest_House',
 'SqFt_Pools',
 'SqFt_Recreational_Courts',
 'SqFt_Shed',
 'Sqft_Barn',
 'TaxYear',
 'Tot Bsmt',
 'TotGLA',
 'Total Bedrooms',
 'Total SqFt',
 'Total Taxes',
 'Total Units',
 'Upstairs SqFt',
 'Withdrawal Date',
 'Year Built']</a:t>
            </a:r>
          </a:p>
          <a:p>
            <a:pPr lvl="0" indent="0" marL="0">
              <a:spcBef>
                <a:spcPts val="3000"/>
              </a:spcBef>
              <a:buNone/>
            </a:pPr>
            <a:r>
              <a:rPr b="1"/>
              <a:t>View Merged Non-Numeric Variables</a:t>
            </a:r>
          </a:p>
          <a:p>
            <a:pPr lvl="0" indent="0">
              <a:buNone/>
            </a:pPr>
            <a:r>
              <a:rPr>
                <a:latin typeface="Courier"/>
              </a:rPr>
              <a:t>['Accessability',
 'Active',
 'Address',
 'Address 2',
 'Agency Email',
 'Agency Name',
 'Agency Phone',
 'Area',
 'Basement',
 'Book Section',
 'Bsmt % Finish',
 'Card Format',
 'City',
 'Co-Listing Agent',
 'Co-Selling Agent',
 'Concessions',
 'Concessions Available',
 'Contingent',
 'Contingent Remarks',
 'County',
 'Covered Parking',
 'Delayed Marketing Exempt Listing',
 'Directions',
 'Elementary',
 'Features',
 'Financing Remarks',
 'Fireplaces',
 'For Sale or Rent',
 'Garage Type',
 'HOA',
 'HOA Dues Frequency',
 'How Sold',
 'IsIncluded',
 'Jr. High',
 'Laundry',
 'Listing Agent',
 'Listing Agent Email',
 'Listing Agent Phone',
 'Listing Date',
 'Listing Type',
 'MainImp.GroupCode',
 'Main_StyleDesc',
 'NbhdCode2',
 'Owner',
 'Owner/Agent',
 'PUD',
 'Parcel ID Check',
 'ParcelId',
 'Parking Covered',
 'Parking Uncovered',
 'Photo URL',
 'Private Remarks',
 'PropTypeDescription',
 'Property Type',
 'Public Remarks',
 'RecordType',
 'ReviewedBy',
 'Road Condition',
 'Rooms',
 'Selling Agency',
 'Selling Agency Email',
 'Selling Agency Phone',
 'Selling Agent',
 'Selling Agent Email',
 'Selling Agent Phone',
 'Senior Community',
 'Sold Date',
 'SpecificPropTypeDescription',
 'Square Foot Source',
 'Sr. High',
 'St. #',
 'St. Dir.',
 'State/Province',
 'Status',
 'Status Change Date',
 'Street Direction Sfx',
 'Street Name',
 'Street Suffix',
 'Sub Type',
 'Subdivision_x',
 'Subdivision_y',
 'Tax Serial #',
 'Type',
 'Under Contract Date',
 'Utilities',
 'Zoned',
 'mod_timestamp']</a:t>
            </a:r>
          </a:p>
          <a:p>
            <a:pPr lvl="0" indent="0" marL="0">
              <a:spcBef>
                <a:spcPts val="3000"/>
              </a:spcBef>
              <a:buNone/>
            </a:pPr>
            <a:r>
              <a:rPr b="1"/>
              <a:t>Identify City</a:t>
            </a:r>
          </a:p>
          <a:p>
            <a:pPr lvl="0" indent="0">
              <a:buNone/>
            </a:pPr>
            <a:r>
              <a:rPr>
                <a:latin typeface="Courier"/>
              </a:rPr>
              <a:t>Loading formatted geocoded file...</a:t>
            </a:r>
          </a:p>
          <a:p>
            <a:pPr lvl="0" indent="0">
              <a:buNone/>
            </a:pPr>
            <a:r>
              <a:rPr>
                <a:latin typeface="Courier"/>
              </a:rPr>
              <a:t>city
Cedar City     24138
Enterprise     12232
Enoch           8953
Parowan         8805
Takoradi        1722
Unknown         1355
Pioche           463
Milford           94
Panguitch         69
Beaver            43
Toquerville       30
Name: count, dtype: int64</a:t>
            </a:r>
          </a:p>
          <a:p>
            <a:pPr lvl="0" indent="0" marL="0">
              <a:spcBef>
                <a:spcPts val="3000"/>
              </a:spcBef>
              <a:buNone/>
            </a:pPr>
            <a:r>
              <a:rPr b="1"/>
              <a:t>CPI Adjusted Sales Price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endParaRPr/>
                    </a:p>
                  </a:txBody>
                  <a:tcPr/>
                </a:tc>
                <a:tc>
                  <a:txBody>
                    <a:bodyPr/>
                    <a:lstStyle/>
                    <a:p>
                      <a:pPr lvl="0" indent="0" marL="0">
                        <a:buNone/>
                      </a:pPr>
                      <a:r>
                        <a:rPr/>
                        <a:t>Sold Price</a:t>
                      </a:r>
                    </a:p>
                  </a:txBody>
                  <a:tcPr/>
                </a:tc>
                <a:tc>
                  <a:txBody>
                    <a:bodyPr/>
                    <a:lstStyle/>
                    <a:p>
                      <a:pPr lvl="0" indent="0" marL="0">
                        <a:buNone/>
                      </a:pPr>
                      <a:r>
                        <a:rPr/>
                        <a:t>CPI Adjusted Sold Price</a:t>
                      </a:r>
                    </a:p>
                  </a:txBody>
                  <a:tcPr/>
                </a:tc>
              </a:tr>
              <a:tr h="0">
                <a:tc>
                  <a:txBody>
                    <a:bodyPr/>
                    <a:lstStyle/>
                    <a:p>
                      <a:pPr lvl="0" indent="0" marL="0">
                        <a:buNone/>
                      </a:pPr>
                      <a:r>
                        <a:rPr/>
                        <a:t>count</a:t>
                      </a:r>
                    </a:p>
                  </a:txBody>
                </a:tc>
                <a:tc>
                  <a:txBody>
                    <a:bodyPr/>
                    <a:lstStyle/>
                    <a:p>
                      <a:pPr lvl="0" indent="0" marL="0">
                        <a:buNone/>
                      </a:pPr>
                      <a:r>
                        <a:rPr/>
                        <a:t>8.471000e+03</a:t>
                      </a:r>
                    </a:p>
                  </a:txBody>
                </a:tc>
                <a:tc>
                  <a:txBody>
                    <a:bodyPr/>
                    <a:lstStyle/>
                    <a:p>
                      <a:pPr lvl="0" indent="0" marL="0">
                        <a:buNone/>
                      </a:pPr>
                      <a:r>
                        <a:rPr/>
                        <a:t>8.469000e+03</a:t>
                      </a:r>
                    </a:p>
                  </a:txBody>
                </a:tc>
              </a:tr>
              <a:tr h="0">
                <a:tc>
                  <a:txBody>
                    <a:bodyPr/>
                    <a:lstStyle/>
                    <a:p>
                      <a:pPr lvl="0" indent="0" marL="0">
                        <a:buNone/>
                      </a:pPr>
                      <a:r>
                        <a:rPr/>
                        <a:t>mean</a:t>
                      </a:r>
                    </a:p>
                  </a:txBody>
                </a:tc>
                <a:tc>
                  <a:txBody>
                    <a:bodyPr/>
                    <a:lstStyle/>
                    <a:p>
                      <a:pPr lvl="0" indent="0" marL="0">
                        <a:buNone/>
                      </a:pPr>
                      <a:r>
                        <a:rPr/>
                        <a:t>4.245680e+05</a:t>
                      </a:r>
                    </a:p>
                  </a:txBody>
                </a:tc>
                <a:tc>
                  <a:txBody>
                    <a:bodyPr/>
                    <a:lstStyle/>
                    <a:p>
                      <a:pPr lvl="0" indent="0" marL="0">
                        <a:buNone/>
                      </a:pPr>
                      <a:r>
                        <a:rPr/>
                        <a:t>4.216113e+05</a:t>
                      </a:r>
                    </a:p>
                  </a:txBody>
                </a:tc>
              </a:tr>
              <a:tr h="0">
                <a:tc>
                  <a:txBody>
                    <a:bodyPr/>
                    <a:lstStyle/>
                    <a:p>
                      <a:pPr lvl="0" indent="0" marL="0">
                        <a:buNone/>
                      </a:pPr>
                      <a:r>
                        <a:rPr/>
                        <a:t>std</a:t>
                      </a:r>
                    </a:p>
                  </a:txBody>
                </a:tc>
                <a:tc>
                  <a:txBody>
                    <a:bodyPr/>
                    <a:lstStyle/>
                    <a:p>
                      <a:pPr lvl="0" indent="0" marL="0">
                        <a:buNone/>
                      </a:pPr>
                      <a:r>
                        <a:rPr/>
                        <a:t>1.892971e+05</a:t>
                      </a:r>
                    </a:p>
                  </a:txBody>
                </a:tc>
                <a:tc>
                  <a:txBody>
                    <a:bodyPr/>
                    <a:lstStyle/>
                    <a:p>
                      <a:pPr lvl="0" indent="0" marL="0">
                        <a:buNone/>
                      </a:pPr>
                      <a:r>
                        <a:rPr/>
                        <a:t>1.874102e+05</a:t>
                      </a:r>
                    </a:p>
                  </a:txBody>
                </a:tc>
              </a:tr>
              <a:tr h="0">
                <a:tc>
                  <a:txBody>
                    <a:bodyPr/>
                    <a:lstStyle/>
                    <a:p>
                      <a:pPr lvl="0" indent="0" marL="0">
                        <a:buNone/>
                      </a:pPr>
                      <a:r>
                        <a:rPr/>
                        <a:t>min</a:t>
                      </a:r>
                    </a:p>
                  </a:txBody>
                </a:tc>
                <a:tc>
                  <a:txBody>
                    <a:bodyPr/>
                    <a:lstStyle/>
                    <a:p>
                      <a:pPr lvl="0" indent="0" marL="0">
                        <a:buNone/>
                      </a:pPr>
                      <a:r>
                        <a:rPr/>
                        <a:t>0.000000e+00</a:t>
                      </a:r>
                    </a:p>
                  </a:txBody>
                </a:tc>
                <a:tc>
                  <a:txBody>
                    <a:bodyPr/>
                    <a:lstStyle/>
                    <a:p>
                      <a:pPr lvl="0" indent="0" marL="0">
                        <a:buNone/>
                      </a:pPr>
                      <a:r>
                        <a:rPr/>
                        <a:t>0.000000e+00</a:t>
                      </a:r>
                    </a:p>
                  </a:txBody>
                </a:tc>
              </a:tr>
              <a:tr h="0">
                <a:tc>
                  <a:txBody>
                    <a:bodyPr/>
                    <a:lstStyle/>
                    <a:p>
                      <a:pPr lvl="0" indent="0" marL="0">
                        <a:buNone/>
                      </a:pPr>
                      <a:r>
                        <a:rPr/>
                        <a:t>25%</a:t>
                      </a:r>
                    </a:p>
                  </a:txBody>
                </a:tc>
                <a:tc>
                  <a:txBody>
                    <a:bodyPr/>
                    <a:lstStyle/>
                    <a:p>
                      <a:pPr lvl="0" indent="0" marL="0">
                        <a:buNone/>
                      </a:pPr>
                      <a:r>
                        <a:rPr/>
                        <a:t>3.148500e+05</a:t>
                      </a:r>
                    </a:p>
                  </a:txBody>
                </a:tc>
                <a:tc>
                  <a:txBody>
                    <a:bodyPr/>
                    <a:lstStyle/>
                    <a:p>
                      <a:pPr lvl="0" indent="0" marL="0">
                        <a:buNone/>
                      </a:pPr>
                      <a:r>
                        <a:rPr/>
                        <a:t>3.116984e+05</a:t>
                      </a:r>
                    </a:p>
                  </a:txBody>
                </a:tc>
              </a:tr>
              <a:tr h="0">
                <a:tc>
                  <a:txBody>
                    <a:bodyPr/>
                    <a:lstStyle/>
                    <a:p>
                      <a:pPr lvl="0" indent="0" marL="0">
                        <a:buNone/>
                      </a:pPr>
                      <a:r>
                        <a:rPr/>
                        <a:t>50%</a:t>
                      </a:r>
                    </a:p>
                  </a:txBody>
                </a:tc>
                <a:tc>
                  <a:txBody>
                    <a:bodyPr/>
                    <a:lstStyle/>
                    <a:p>
                      <a:pPr lvl="0" indent="0" marL="0">
                        <a:buNone/>
                      </a:pPr>
                      <a:r>
                        <a:rPr/>
                        <a:t>3.900000e+05</a:t>
                      </a:r>
                    </a:p>
                  </a:txBody>
                </a:tc>
                <a:tc>
                  <a:txBody>
                    <a:bodyPr/>
                    <a:lstStyle/>
                    <a:p>
                      <a:pPr lvl="0" indent="0" marL="0">
                        <a:buNone/>
                      </a:pPr>
                      <a:r>
                        <a:rPr/>
                        <a:t>3.899000e+05</a:t>
                      </a:r>
                    </a:p>
                  </a:txBody>
                </a:tc>
              </a:tr>
              <a:tr h="0">
                <a:tc>
                  <a:txBody>
                    <a:bodyPr/>
                    <a:lstStyle/>
                    <a:p>
                      <a:pPr lvl="0" indent="0" marL="0">
                        <a:buNone/>
                      </a:pPr>
                      <a:r>
                        <a:rPr/>
                        <a:t>75%</a:t>
                      </a:r>
                    </a:p>
                  </a:txBody>
                </a:tc>
                <a:tc>
                  <a:txBody>
                    <a:bodyPr/>
                    <a:lstStyle/>
                    <a:p>
                      <a:pPr lvl="0" indent="0" marL="0">
                        <a:buNone/>
                      </a:pPr>
                      <a:r>
                        <a:rPr/>
                        <a:t>4.950000e+05</a:t>
                      </a:r>
                    </a:p>
                  </a:txBody>
                </a:tc>
                <a:tc>
                  <a:txBody>
                    <a:bodyPr/>
                    <a:lstStyle/>
                    <a:p>
                      <a:pPr lvl="0" indent="0" marL="0">
                        <a:buNone/>
                      </a:pPr>
                      <a:r>
                        <a:rPr/>
                        <a:t>4.890000e+05</a:t>
                      </a:r>
                    </a:p>
                  </a:txBody>
                </a:tc>
              </a:tr>
              <a:tr h="0">
                <a:tc>
                  <a:txBody>
                    <a:bodyPr/>
                    <a:lstStyle/>
                    <a:p>
                      <a:pPr lvl="0" indent="0" marL="0">
                        <a:buNone/>
                      </a:pPr>
                      <a:r>
                        <a:rPr/>
                        <a:t>max</a:t>
                      </a:r>
                    </a:p>
                  </a:txBody>
                </a:tc>
                <a:tc>
                  <a:txBody>
                    <a:bodyPr/>
                    <a:lstStyle/>
                    <a:p>
                      <a:pPr lvl="0" indent="0" marL="0">
                        <a:buNone/>
                      </a:pPr>
                      <a:r>
                        <a:rPr/>
                        <a:t>2.370000e+06</a:t>
                      </a:r>
                    </a:p>
                  </a:txBody>
                </a:tc>
                <a:tc>
                  <a:txBody>
                    <a:bodyPr/>
                    <a:lstStyle/>
                    <a:p>
                      <a:pPr lvl="0" indent="0" marL="0">
                        <a:buNone/>
                      </a:pPr>
                      <a:r>
                        <a:rPr/>
                        <a:t>2.370000e+06</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Price Evaluation</a:t>
            </a:r>
          </a:p>
        </p:txBody>
      </p:sp>
      <p:pic>
        <p:nvPicPr>
          <p:cNvPr descr="PCA_umap_files/figure-pptx/price-eval-output-1.png" id="0" name="Picture 1"/>
          <p:cNvPicPr>
            <a:picLocks noGrp="1" noChangeAspect="1"/>
          </p:cNvPicPr>
          <p:nvPr/>
        </p:nvPicPr>
        <p:blipFill>
          <a:blip r:embed="rId2"/>
          <a:stretch>
            <a:fillRect/>
          </a:stretch>
        </p:blipFill>
        <p:spPr bwMode="auto">
          <a:xfrm>
            <a:off x="3568700" y="1447800"/>
            <a:ext cx="5105400" cy="18796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BoxCox Plot</a:t>
            </a:r>
          </a:p>
        </p:txBody>
      </p:sp>
      <p:pic>
        <p:nvPicPr>
          <p:cNvPr descr="PCA_umap_files/figure-pptx/boxcox-on-cpi-price-output-1.png" id="0" name="Picture 1"/>
          <p:cNvPicPr>
            <a:picLocks noGrp="1" noChangeAspect="1"/>
          </p:cNvPicPr>
          <p:nvPr/>
        </p:nvPicPr>
        <p:blipFill>
          <a:blip r:embed="rId2"/>
          <a:stretch>
            <a:fillRect/>
          </a:stretch>
        </p:blipFill>
        <p:spPr bwMode="auto">
          <a:xfrm>
            <a:off x="3568700" y="736600"/>
            <a:ext cx="5105400" cy="33147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Price Transformation</a:t>
            </a:r>
          </a:p>
        </p:txBody>
      </p:sp>
      <p:pic>
        <p:nvPicPr>
          <p:cNvPr descr="PCA_umap_files/figure-pptx/price-transformation-output-1.png" id="0" name="Picture 1"/>
          <p:cNvPicPr>
            <a:picLocks noGrp="1" noChangeAspect="1"/>
          </p:cNvPicPr>
          <p:nvPr/>
        </p:nvPicPr>
        <p:blipFill>
          <a:blip r:embed="rId2"/>
          <a:stretch>
            <a:fillRect/>
          </a:stretch>
        </p:blipFill>
        <p:spPr bwMode="auto">
          <a:xfrm>
            <a:off x="3568700" y="1447800"/>
            <a:ext cx="5105400" cy="18796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a:buNone/>
                </a:pPr>
                <a:r>
                  <a:rPr>
                    <a:latin typeface="Courier"/>
                  </a:rPr>
                  <a:t>count    8469.000000
mean      633.438221
std       142.722652
min         0.000000
25%       558.299542
50%       624.419731
75%       699.285349
max      1539.480432
Name: Sqrt CPI Adjusted Sold Price, dtype: float64</a:t>
                </a:r>
              </a:p>
              <a:p>
                <a:pPr lvl="0" indent="0" marL="0">
                  <a:spcBef>
                    <a:spcPts val="3000"/>
                  </a:spcBef>
                  <a:buNone/>
                </a:pPr>
                <a:r>
                  <a:rPr b="1"/>
                  <a:t>Primary Component Regression</a:t>
                </a:r>
              </a:p>
              <a:p>
                <a:pPr lvl="0" indent="0">
                  <a:buNone/>
                </a:pPr>
                <a:r>
                  <a:rPr>
                    <a:latin typeface="Courier"/>
                  </a:rPr>
                  <a:t>                                 OLS Regression Results                                 
========================================================================================
Dep. Variable:     Sqrt CPI Adjusted Sold Price   R-squared:                       0.285
Model:                                      OLS   Adj. R-squared:                  0.284
Method:                           Least Squares   F-statistic:                     207.3
Date:                          Thu, 05 Mar 2026   Prob (F-statistic):               0.00
Time:                                  21:52:47   Log-Likelihood:                -42108.
No. Observations:                          6775   AIC:                         8.424e+04
Df Residuals:                              6761   BIC:                         8.434e+04
Df Model:                                    13                                         
Covariance Type:                      nonrobust                                         
==============================================================================
                 coef    std err          t      P&gt;|t|      [0.025      0.975]
------------------------------------------------------------------------------
const        671.3390      3.619    185.482      0.000     664.244     678.434
PC1           -1.4480      0.979     -1.479      0.139      -3.367       0.471
PC2           10.8828      0.918     11.856      0.000       9.083      12.682
PC3           -0.9912      0.801     -1.237      0.216      -2.562       0.579
PC4          -11.8402      0.788    -15.032      0.000     -13.384     -10.296
PC5           -0.4351      0.944     -0.461      0.645      -2.286       1.416
PC6            0.0710      0.922      0.077      0.939      -1.737       1.879
PC7           -0.1284      0.912     -0.141      0.888      -1.916       1.659
PC8           -3.2435      1.011     -3.208      0.001      -5.226      -1.262
PC9            8.9847      0.927      9.692      0.000       7.167      10.802
PC10          -3.8824      0.934     -4.156      0.000      -5.714      -2.051
PC11          44.6430      1.208     36.949      0.000      42.275      47.012
PC12          87.9426      2.695     32.632      0.000      82.660      93.226
PC13          30.2995      1.522     19.913      0.000      27.317      33.282
==============================================================================
Omnibus:                     1882.974   Durbin-Watson:                   1.993
Prob(Omnibus):                  0.000   Jarque-Bera (JB):            24892.473
Skew:                          -0.957   Prob(JB):                         0.00
Kurtosis:                      12.193   Cond. No.                         10.3
==============================================================================
Notes:
[1] Standard Errors assume that the covariance matrix of the errors is correctly specified.
   feature       VIF
0    const  6.043072
12    PC12  1.620867
1      PC1  1.544146
13    PC13  1.494614
11    PC11  1.383479
2      PC2  1.168315
5      PC5  1.164134
7      PC7  1.125575
6      PC6  1.125246
3      PC3  1.094661
4      PC4  1.061337
10    PC10  1.038623
9      PC9  1.026177
8      PC8  1.022681</a:t>
                </a:r>
              </a:p>
              <a:p>
                <a:pPr lvl="0" indent="0" marL="0">
                  <a:buNone/>
                </a:pPr>
                <a:r>
                  <a:rPr/>
                  <a:t>This is the Physical Property Effect. Approximately 30% of the variance in price is explained by the weighted features of the home.</a:t>
                </a:r>
              </a:p>
              <a:p>
                <a:pPr lvl="0" indent="0" marL="0">
                  <a:spcBef>
                    <a:spcPts val="3000"/>
                  </a:spcBef>
                  <a:buNone/>
                </a:pPr>
                <a:r>
                  <a:rPr b="1"/>
                  <a:t>Pre-PCA Regression</a:t>
                </a:r>
              </a:p>
              <a:p>
                <a:pPr lvl="0" indent="0">
                  <a:buNone/>
                </a:pPr>
                <a:r>
                  <a:rPr>
                    <a:latin typeface="Courier"/>
                  </a:rPr>
                  <a:t>                                 OLS Regression Results                                 
========================================================================================
Dep. Variable:     Sqrt CPI Adjusted Sold Price   R-squared:                       0.484
Model:                                      OLS   Adj. R-squared:                  0.481
Method:                           Least Squares   F-statistic:                     203.7
Date:                          Thu, 05 Mar 2026   Prob (F-statistic):               0.00
Time:                                  21:52:47   Log-Likelihood:                -41006.
No. Observations:                          6775   AIC:                         8.208e+04
Df Residuals:                              6743   BIC:                         8.229e+04
Df Model:                                    31                                         
Covariance Type:                      nonrobust                                         
=============================================================================================
                                coef    std err          t      P&gt;|t|      [0.025      0.975]
---------------------------------------------------------------------------------------------
const                       564.0150      4.201    134.245      0.000     555.779     572.251
Acreage                       4.4738      0.424     10.563      0.000       3.644       5.304
TotGLA                        0.1106      0.004     30.462      0.000       0.104       0.118
Tot Bsmt                      0.0416      0.003     15.421      0.000       0.036       0.047
EffYearBuilt_Weighted        -0.2606      0.120     -2.164      0.030      -0.497      -0.025
Quality_Weighted             46.4397      3.030     15.329      0.000      40.501      52.379
FullBaths_Total              -3.1202      3.062     -1.019      0.308      -9.122       2.882
HalfBaths_Total             -33.0046      2.802    -11.780      0.000     -38.497     -27.512
BsmtFinishPct_Weighted       36.3948      5.555      6.552      0.000      25.506      47.284
Laundry_Count                -2.8292      8.181     -0.346      0.729     -18.867      13.209
KitchenCount                  1.7034      6.780      0.251      0.802     -11.587      14.994
CarportArea                   0.0706      0.017      4.261      0.000       0.038       0.103
CarportCapacity             -12.8534      7.277     -1.766      0.077     -27.119       1.412
GarageArea                    0.0704      0.008      9.321      0.000       0.056       0.085
GarageCapacity               -1.9296      1.976     -0.976      0.329      -5.804       1.945
Main_YearBuilt                0.1068      0.122      0.878      0.380      -0.132       0.345
Count_DetGarage              17.5565      7.590      2.313      0.021       2.678      32.435
SqFt_DetGarage                0.0255      0.007      3.650      0.000       0.012       0.039
Count_ DetCarport           -12.2928     12.123     -1.014      0.311     -36.057      11.472
SqFt_DetCarport               0.0209      0.034      0.611      0.541      -0.046       0.088
Count_Barn                   49.7795     30.889      1.612      0.107     -10.773     110.332
Sqft_Barn                     0.0047      0.017      0.272      0.786      -0.029       0.039
Count_Guest_House           341.6486    290.612      1.176      0.240    -228.042     911.339
SqFt_Guest_House             -1.7106      1.356     -1.261      0.207      -4.370       0.949
Count_Pools                  38.9031     36.294      1.072      0.284     -32.244     110.051
SqFt_Pools                   -0.3083      0.183     -1.687      0.092      -0.666       0.050
Count_Recreational_Courts   -88.5585    143.072     -0.619      0.536    -369.024     191.907
SqFt_Recreational_Courts      0.0833      0.107      0.780      0.435      -0.126       0.293
Count_Shed                    2.5707      3.924      0.655      0.512      -5.121      10.262
SqFt_Shed                    -0.0038      0.011     -0.364      0.716      -0.024       0.017
Count_Gazebo_Pavilion        53.0459     34.866      1.521      0.128     -15.303     121.395
SqFt_Gazebo_Pavilion         -0.3660      0.157     -2.337      0.019      -0.673      -0.059
==============================================================================
Omnibus:                     4042.256   Durbin-Watson:                   1.986
Prob(Omnibus):                  0.000   Jarque-Bera (JB):           119695.097
Skew:                          -2.338   Prob(JB):                         0.00
Kurtosis:                      23.054   Cond. No.                     7.50e+05
==============================================================================
Notes:
[1] Standard Errors assume that the covariance matrix of the errors is correctly specified.
[2] The condition number is large, 7.5e+05. This might indicate that there are
strong multicollinearity or other numerical problems.
                      feature          VIF
15             Main_YearBuilt  3103.788815
4       EffYearBuilt_Weighted  3065.655487
23           SqFt_Guest_House    47.640107
22          Count_Guest_House    47.627853
26  Count_Recreational_Courts    13.458923
27   SqFt_Recreational_Courts    13.229463
0                       const    11.244707
5            Quality_Weighted     6.882671
24                Count_Pools     5.196083
25                 SqFt_Pools     5.174715
9               Laundry_Count     4.852767
6             FullBaths_Total     4.456338
13                 GarageArea     4.163046
2                      TotGLA     4.119720
14             GarageCapacity     3.855262
10               KitchenCount     3.744640
30      Count_Gazebo_Pavilion     3.413992
31       SqFt_Gazebo_Pavilion     3.232883
21                  Sqft_Barn     2.792220
20                 Count_Barn     2.768442
16            Count_DetGarage     2.692618
8      BsmtFinishPct_Weighted     2.677584
17             SqFt_DetGarage     2.667627
3                    Tot Bsmt     2.226790
18          Count_ DetCarport     2.160068
19            SqFt_DetCarport     2.089658
11                CarportArea     1.679029
12            CarportCapacity     1.525499
28                 Count_Shed     1.484609
29                  SqFt_Shed     1.391041
7             HalfBaths_Total     1.252252
1                     Acreage     1.093759</a:t>
                </a:r>
              </a:p>
              <a:p>
                <a:pPr lvl="0" indent="0" marL="0">
                  <a:buNone/>
                </a:pPr>
                <a:r>
                  <a:rPr/>
                  <a:t>The reason the PCA’s were used initially are because the PC’s are orthgonal to eachother, which means there is no multicollinearity between the components. In a model using the same variables as what was used to compute the PC’s, we do see a higher </a:t>
                </a:r>
                <a14:m>
                  <m:oMath xmlns:m="http://schemas.openxmlformats.org/officeDocument/2006/math">
                    <m:sSup>
                      <m:e>
                        <m:r>
                          <m:t>R</m:t>
                        </m:r>
                      </m:e>
                      <m:sup>
                        <m:r>
                          <m:t>2</m:t>
                        </m:r>
                      </m:sup>
                    </m:sSup>
                  </m:oMath>
                </a14:m>
                <a:r>
                  <a:rPr/>
                  <a:t> value, but that is due to the overfitting of the model which is a result of the multicollinearity evidenced by the VIF output.</a:t>
                </a:r>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 Creation</dc:title>
  <dc:creator/>
  <cp:keywords/>
  <dcterms:created xsi:type="dcterms:W3CDTF">2026-03-06T04:52:49Z</dcterms:created>
  <dcterms:modified xsi:type="dcterms:W3CDTF">2026-03-06T04:52:49Z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ditor_options">
    <vt:lpwstr/>
  </property>
  <property fmtid="{D5CDD505-2E9C-101B-9397-08002B2CF9AE}" pid="4" name="execute">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toc-title">
    <vt:lpwstr>Table of contents</vt:lpwstr>
  </property>
  <property fmtid="{D5CDD505-2E9C-101B-9397-08002B2CF9AE}" pid="10" name="urlcolor">
    <vt:lpwstr>blue</vt:lpwstr>
  </property>
</Properties>
</file>